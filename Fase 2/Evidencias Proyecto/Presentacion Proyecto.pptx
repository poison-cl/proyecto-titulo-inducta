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" charset="1" panose="00000500000000000000"/>
      <p:regular r:id="rId18"/>
    </p:embeddedFont>
    <p:embeddedFont>
      <p:font typeface="Poppins Ultra-Bold" charset="1" panose="000009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0451" y="7710198"/>
            <a:ext cx="5088532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spc="-3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Mateo Martinez / Hans elfert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711329" y="8093738"/>
            <a:ext cx="2845127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9"/>
              </a:lnSpc>
            </a:pPr>
            <a:r>
              <a:rPr lang="en-US" sz="1999" spc="-11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825" y="7324805"/>
            <a:ext cx="1030486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spc="-3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Docente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825" y="7710198"/>
            <a:ext cx="1402110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spc="-3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Integrantes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70451" y="7326023"/>
            <a:ext cx="3465314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strike="noStrike" spc="-3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Marco Valenzuela Contreras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44" y="1111155"/>
            <a:ext cx="16824912" cy="525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2"/>
              </a:lnSpc>
            </a:pPr>
            <a:r>
              <a:rPr lang="en-US" b="true" sz="23315" spc="-2424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INDUCTA CHILE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825" y="6175606"/>
            <a:ext cx="9000311" cy="6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1"/>
              </a:lnSpc>
            </a:pPr>
            <a:r>
              <a:rPr lang="en-US" sz="2471" spc="-148" b="true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Plataforma SaaS de inducción y capacitacióncorporativa</a:t>
            </a:r>
          </a:p>
          <a:p>
            <a:pPr algn="l">
              <a:lnSpc>
                <a:spcPts val="247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50825" y="8094373"/>
            <a:ext cx="966788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spc="-3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Sección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0451" y="8093738"/>
            <a:ext cx="1906935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999" spc="-3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Capstone 004D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6900" y="5143500"/>
            <a:ext cx="4435491" cy="2963315"/>
            <a:chOff x="0" y="0"/>
            <a:chExt cx="1093886" cy="730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3886" cy="730816"/>
            </a:xfrm>
            <a:custGeom>
              <a:avLst/>
              <a:gdLst/>
              <a:ahLst/>
              <a:cxnLst/>
              <a:rect r="r" b="b" t="t" l="l"/>
              <a:pathLst>
                <a:path h="730816" w="1093886">
                  <a:moveTo>
                    <a:pt x="89018" y="0"/>
                  </a:moveTo>
                  <a:lnTo>
                    <a:pt x="1004869" y="0"/>
                  </a:lnTo>
                  <a:cubicBezTo>
                    <a:pt x="1054032" y="0"/>
                    <a:pt x="1093886" y="39855"/>
                    <a:pt x="1093886" y="89018"/>
                  </a:cubicBezTo>
                  <a:lnTo>
                    <a:pt x="1093886" y="641799"/>
                  </a:lnTo>
                  <a:cubicBezTo>
                    <a:pt x="1093886" y="690962"/>
                    <a:pt x="1054032" y="730816"/>
                    <a:pt x="1004869" y="730816"/>
                  </a:cubicBezTo>
                  <a:lnTo>
                    <a:pt x="89018" y="730816"/>
                  </a:lnTo>
                  <a:cubicBezTo>
                    <a:pt x="39855" y="730816"/>
                    <a:pt x="0" y="690962"/>
                    <a:pt x="0" y="641799"/>
                  </a:cubicBezTo>
                  <a:lnTo>
                    <a:pt x="0" y="89018"/>
                  </a:lnTo>
                  <a:cubicBezTo>
                    <a:pt x="0" y="39855"/>
                    <a:pt x="39855" y="0"/>
                    <a:pt x="89018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093886" cy="711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31390"/>
            <a:ext cx="9492048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b="true" sz="9600" spc="-998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EL 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49775" y="1047750"/>
            <a:ext cx="4309525" cy="4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  <a:p>
            <a:pPr algn="r">
              <a:lnSpc>
                <a:spcPts val="15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617464"/>
            <a:ext cx="9153650" cy="8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2193" spc="-43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El onboarding corporativo en Chile se gestiona de forma manual, sin trazabilidad digital ni evidencia auditable</a:t>
            </a:r>
          </a:p>
          <a:p>
            <a:pPr algn="l">
              <a:lnSpc>
                <a:spcPts val="219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71543" y="6106356"/>
            <a:ext cx="3786206" cy="153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8905" indent="-184453" lvl="1">
              <a:lnSpc>
                <a:spcPts val="1708"/>
              </a:lnSpc>
              <a:buFont typeface="Arial"/>
              <a:buChar char="•"/>
            </a:pP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Planillas Excel y carpetasfísicascomoúnicoregistro</a:t>
            </a:r>
          </a:p>
          <a:p>
            <a:pPr algn="l" marL="368905" indent="-184453" lvl="1">
              <a:lnSpc>
                <a:spcPts val="1708"/>
              </a:lnSpc>
              <a:buFont typeface="Arial"/>
              <a:buChar char="•"/>
            </a:pP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Escasaevidencia de cumplimiento para auditorías</a:t>
            </a:r>
          </a:p>
          <a:p>
            <a:pPr algn="l" marL="368905" indent="-184453" lvl="1">
              <a:lnSpc>
                <a:spcPts val="1708"/>
              </a:lnSpc>
              <a:buFont typeface="Arial"/>
              <a:buChar char="•"/>
            </a:pP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Proceso lento y repetitivo para losequipos de RRHH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1543" y="5478060"/>
            <a:ext cx="3786206" cy="26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922" spc="-3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007631" y="5143500"/>
            <a:ext cx="4435491" cy="2963315"/>
            <a:chOff x="0" y="0"/>
            <a:chExt cx="1093886" cy="7308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3886" cy="730816"/>
            </a:xfrm>
            <a:custGeom>
              <a:avLst/>
              <a:gdLst/>
              <a:ahLst/>
              <a:cxnLst/>
              <a:rect r="r" b="b" t="t" l="l"/>
              <a:pathLst>
                <a:path h="730816" w="1093886">
                  <a:moveTo>
                    <a:pt x="89018" y="0"/>
                  </a:moveTo>
                  <a:lnTo>
                    <a:pt x="1004869" y="0"/>
                  </a:lnTo>
                  <a:cubicBezTo>
                    <a:pt x="1054032" y="0"/>
                    <a:pt x="1093886" y="39855"/>
                    <a:pt x="1093886" y="89018"/>
                  </a:cubicBezTo>
                  <a:lnTo>
                    <a:pt x="1093886" y="641799"/>
                  </a:lnTo>
                  <a:cubicBezTo>
                    <a:pt x="1093886" y="690962"/>
                    <a:pt x="1054032" y="730816"/>
                    <a:pt x="1004869" y="730816"/>
                  </a:cubicBezTo>
                  <a:lnTo>
                    <a:pt x="89018" y="730816"/>
                  </a:lnTo>
                  <a:cubicBezTo>
                    <a:pt x="39855" y="730816"/>
                    <a:pt x="0" y="690962"/>
                    <a:pt x="0" y="641799"/>
                  </a:cubicBezTo>
                  <a:lnTo>
                    <a:pt x="0" y="89018"/>
                  </a:lnTo>
                  <a:cubicBezTo>
                    <a:pt x="0" y="39855"/>
                    <a:pt x="39855" y="0"/>
                    <a:pt x="89018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093886" cy="711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32273" y="6106356"/>
            <a:ext cx="3786206" cy="153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8905" indent="-184453" lvl="1">
              <a:lnSpc>
                <a:spcPts val="1708"/>
              </a:lnSpc>
              <a:buFont typeface="Arial"/>
              <a:buChar char="•"/>
            </a:pP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iesgo normativo ante fiscalizacioneslaborales</a:t>
            </a:r>
          </a:p>
          <a:p>
            <a:pPr algn="l" marL="368905" indent="-184453" lvl="1">
              <a:lnSpc>
                <a:spcPts val="1708"/>
              </a:lnSpc>
              <a:buFont typeface="Arial"/>
              <a:buChar char="•"/>
            </a:pP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Mal</a:t>
            </a: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experiencia del trabajadorensu primer día</a:t>
            </a:r>
          </a:p>
          <a:p>
            <a:pPr algn="l" marL="368905" indent="-184453" lvl="1">
              <a:lnSpc>
                <a:spcPts val="1708"/>
              </a:lnSpc>
              <a:buFont typeface="Arial"/>
              <a:buChar char="•"/>
            </a:pP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 vi</a:t>
            </a: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sibilidad del avance real porcolaborador</a:t>
            </a:r>
          </a:p>
          <a:p>
            <a:pPr algn="l">
              <a:lnSpc>
                <a:spcPts val="170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332273" y="5478060"/>
            <a:ext cx="3786206" cy="26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922" spc="-3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Impacto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405609" y="5143500"/>
            <a:ext cx="4435491" cy="2963315"/>
            <a:chOff x="0" y="0"/>
            <a:chExt cx="1093886" cy="7308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3886" cy="730816"/>
            </a:xfrm>
            <a:custGeom>
              <a:avLst/>
              <a:gdLst/>
              <a:ahLst/>
              <a:cxnLst/>
              <a:rect r="r" b="b" t="t" l="l"/>
              <a:pathLst>
                <a:path h="730816" w="1093886">
                  <a:moveTo>
                    <a:pt x="89018" y="0"/>
                  </a:moveTo>
                  <a:lnTo>
                    <a:pt x="1004869" y="0"/>
                  </a:lnTo>
                  <a:cubicBezTo>
                    <a:pt x="1054032" y="0"/>
                    <a:pt x="1093886" y="39855"/>
                    <a:pt x="1093886" y="89018"/>
                  </a:cubicBezTo>
                  <a:lnTo>
                    <a:pt x="1093886" y="641799"/>
                  </a:lnTo>
                  <a:cubicBezTo>
                    <a:pt x="1093886" y="690962"/>
                    <a:pt x="1054032" y="730816"/>
                    <a:pt x="1004869" y="730816"/>
                  </a:cubicBezTo>
                  <a:lnTo>
                    <a:pt x="89018" y="730816"/>
                  </a:lnTo>
                  <a:cubicBezTo>
                    <a:pt x="39855" y="730816"/>
                    <a:pt x="0" y="690962"/>
                    <a:pt x="0" y="641799"/>
                  </a:cubicBezTo>
                  <a:lnTo>
                    <a:pt x="0" y="89018"/>
                  </a:lnTo>
                  <a:cubicBezTo>
                    <a:pt x="0" y="39855"/>
                    <a:pt x="39855" y="0"/>
                    <a:pt x="89018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1093886" cy="711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730251" y="6106356"/>
            <a:ext cx="3786206" cy="153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</a:t>
            </a: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 B2B multi-tenant para múltiplesempresas</a:t>
            </a:r>
          </a:p>
          <a:p>
            <a:pPr algn="l">
              <a:lnSpc>
                <a:spcPts val="1708"/>
              </a:lnSpc>
            </a:pP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Induccionesdigitales con certificados de aprobación</a:t>
            </a:r>
          </a:p>
          <a:p>
            <a:pPr algn="l">
              <a:lnSpc>
                <a:spcPts val="1708"/>
              </a:lnSpc>
            </a:pP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708" spc="-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acturaciónintegrada con Transbanken UF</a:t>
            </a:r>
          </a:p>
          <a:p>
            <a:pPr algn="l">
              <a:lnSpc>
                <a:spcPts val="170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730251" y="5478060"/>
            <a:ext cx="3786206" cy="26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2"/>
              </a:lnSpc>
            </a:pPr>
            <a:r>
              <a:rPr lang="en-US" b="true" sz="1922" spc="-3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Oportunidad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1888" y="2015269"/>
            <a:ext cx="9349042" cy="215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b="true" sz="9600" spc="-998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LA SOLUCIÓN: INDUCTA CHILE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1888" y="4312285"/>
            <a:ext cx="8327313" cy="233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99"/>
              </a:lnSpc>
            </a:pPr>
            <a:r>
              <a:rPr lang="en-US" b="true" sz="1699" spc="-33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• Plataforma SaaS multi-tenant que digitaliza y automatiza las inducciones corporativas</a:t>
            </a:r>
          </a:p>
          <a:p>
            <a:pPr algn="just">
              <a:lnSpc>
                <a:spcPts val="1699"/>
              </a:lnSpc>
            </a:pPr>
            <a:r>
              <a:rPr lang="en-US" b="true" sz="1699" spc="-33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• Dos roles diferenciados: admin (empresa) gestiona contenidos, y trabajador (empleado) rinde inducciones</a:t>
            </a:r>
          </a:p>
          <a:p>
            <a:pPr algn="just">
              <a:lnSpc>
                <a:spcPts val="1699"/>
              </a:lnSpc>
            </a:pPr>
            <a:r>
              <a:rPr lang="en-US" b="true" sz="1699" spc="-33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• Evaluaciones con seguimiento de avance, historial de intentos y emisión de certificados PDF por empresa</a:t>
            </a:r>
          </a:p>
          <a:p>
            <a:pPr algn="just">
              <a:lnSpc>
                <a:spcPts val="1699"/>
              </a:lnSpc>
            </a:pPr>
            <a:r>
              <a:rPr lang="en-US" b="true" sz="1699" spc="-33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• Planes de suscripción con pago en línea mediante Transbank Webpay Plus, soportando UF</a:t>
            </a:r>
          </a:p>
          <a:p>
            <a:pPr algn="just">
              <a:lnSpc>
                <a:spcPts val="1699"/>
              </a:lnSpc>
            </a:pPr>
            <a:r>
              <a:rPr lang="en-US" b="true" sz="1699" spc="-33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• Stack moderno: React 19 · Clerk · Supabase (Postgres + RLS + Edge Functions) · Podman</a:t>
            </a:r>
          </a:p>
          <a:p>
            <a:pPr algn="just">
              <a:lnSpc>
                <a:spcPts val="169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9705101" y="1490591"/>
            <a:ext cx="8582899" cy="7281688"/>
            <a:chOff x="0" y="0"/>
            <a:chExt cx="695832" cy="5903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5832" cy="590340"/>
            </a:xfrm>
            <a:custGeom>
              <a:avLst/>
              <a:gdLst/>
              <a:ahLst/>
              <a:cxnLst/>
              <a:rect r="r" b="b" t="t" l="l"/>
              <a:pathLst>
                <a:path h="590340" w="695832">
                  <a:moveTo>
                    <a:pt x="0" y="0"/>
                  </a:moveTo>
                  <a:lnTo>
                    <a:pt x="695832" y="0"/>
                  </a:lnTo>
                  <a:lnTo>
                    <a:pt x="695832" y="590340"/>
                  </a:lnTo>
                  <a:lnTo>
                    <a:pt x="0" y="590340"/>
                  </a:lnTo>
                  <a:close/>
                </a:path>
              </a:pathLst>
            </a:custGeom>
            <a:blipFill>
              <a:blip r:embed="rId2"/>
              <a:stretch>
                <a:fillRect l="-13789" t="0" r="-13789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553" y="2231390"/>
            <a:ext cx="6125418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b="true" sz="9600" spc="-998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OBJETIVOS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414395"/>
            <a:ext cx="15930124" cy="1345020"/>
            <a:chOff x="0" y="0"/>
            <a:chExt cx="6246305" cy="527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46305" cy="527391"/>
            </a:xfrm>
            <a:custGeom>
              <a:avLst/>
              <a:gdLst/>
              <a:ahLst/>
              <a:cxnLst/>
              <a:rect r="r" b="b" t="t" l="l"/>
              <a:pathLst>
                <a:path h="527391" w="6246305">
                  <a:moveTo>
                    <a:pt x="24786" y="0"/>
                  </a:moveTo>
                  <a:lnTo>
                    <a:pt x="6221519" y="0"/>
                  </a:lnTo>
                  <a:cubicBezTo>
                    <a:pt x="6235208" y="0"/>
                    <a:pt x="6246305" y="11097"/>
                    <a:pt x="6246305" y="24786"/>
                  </a:cubicBezTo>
                  <a:lnTo>
                    <a:pt x="6246305" y="502605"/>
                  </a:lnTo>
                  <a:cubicBezTo>
                    <a:pt x="6246305" y="516294"/>
                    <a:pt x="6235208" y="527391"/>
                    <a:pt x="6221519" y="527391"/>
                  </a:cubicBezTo>
                  <a:lnTo>
                    <a:pt x="24786" y="527391"/>
                  </a:lnTo>
                  <a:cubicBezTo>
                    <a:pt x="11097" y="527391"/>
                    <a:pt x="0" y="516294"/>
                    <a:pt x="0" y="502605"/>
                  </a:cubicBezTo>
                  <a:lnTo>
                    <a:pt x="0" y="24786"/>
                  </a:lnTo>
                  <a:cubicBezTo>
                    <a:pt x="0" y="11097"/>
                    <a:pt x="11097" y="0"/>
                    <a:pt x="24786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6246305" cy="508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8689" y="4041478"/>
            <a:ext cx="15273198" cy="58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4"/>
              </a:lnSpc>
            </a:pPr>
            <a:r>
              <a:rPr lang="en-US" sz="1774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Diseñar e implementarunaplataforma SaaS multi-t</a:t>
            </a:r>
            <a:r>
              <a:rPr lang="en-US" sz="1774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enant seguraqueautomatice el proceso de induccióncorporativa, incluyendogestión de trabajadores, evaluaciones con seguimiento de avance, emisión de certificados PDF y facturación B2B medianteTransbank.</a:t>
            </a:r>
          </a:p>
          <a:p>
            <a:pPr algn="l">
              <a:lnSpc>
                <a:spcPts val="107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38689" y="3592939"/>
            <a:ext cx="13598209" cy="26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b="true" sz="1909" spc="-3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General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72760" y="5416640"/>
            <a:ext cx="6351556" cy="1482741"/>
            <a:chOff x="0" y="0"/>
            <a:chExt cx="2259163" cy="527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9163" cy="527391"/>
            </a:xfrm>
            <a:custGeom>
              <a:avLst/>
              <a:gdLst/>
              <a:ahLst/>
              <a:cxnLst/>
              <a:rect r="r" b="b" t="t" l="l"/>
              <a:pathLst>
                <a:path h="527391" w="2259163">
                  <a:moveTo>
                    <a:pt x="62164" y="0"/>
                  </a:moveTo>
                  <a:lnTo>
                    <a:pt x="2196999" y="0"/>
                  </a:lnTo>
                  <a:cubicBezTo>
                    <a:pt x="2231331" y="0"/>
                    <a:pt x="2259163" y="27832"/>
                    <a:pt x="2259163" y="62164"/>
                  </a:cubicBezTo>
                  <a:lnTo>
                    <a:pt x="2259163" y="465227"/>
                  </a:lnTo>
                  <a:cubicBezTo>
                    <a:pt x="2259163" y="499559"/>
                    <a:pt x="2231331" y="527391"/>
                    <a:pt x="2196999" y="527391"/>
                  </a:cubicBezTo>
                  <a:lnTo>
                    <a:pt x="62164" y="527391"/>
                  </a:lnTo>
                  <a:cubicBezTo>
                    <a:pt x="27832" y="527391"/>
                    <a:pt x="0" y="499559"/>
                    <a:pt x="0" y="465227"/>
                  </a:cubicBezTo>
                  <a:lnTo>
                    <a:pt x="0" y="62164"/>
                  </a:lnTo>
                  <a:cubicBezTo>
                    <a:pt x="0" y="27832"/>
                    <a:pt x="27832" y="0"/>
                    <a:pt x="62164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259163" cy="508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34686" y="5986375"/>
            <a:ext cx="6089631" cy="65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956" spc="-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 de datos multi-tenant con aislamientopor RLS a nivel de fila en PostgreSQL</a:t>
            </a:r>
          </a:p>
          <a:p>
            <a:pPr algn="l">
              <a:lnSpc>
                <a:spcPts val="118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066954" y="5697140"/>
            <a:ext cx="5421790" cy="559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sz="2104" spc="-4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  <a:p>
            <a:pPr algn="l">
              <a:lnSpc>
                <a:spcPts val="2104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772760" y="7718403"/>
            <a:ext cx="6351556" cy="1482741"/>
            <a:chOff x="0" y="0"/>
            <a:chExt cx="2259163" cy="527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9163" cy="527391"/>
            </a:xfrm>
            <a:custGeom>
              <a:avLst/>
              <a:gdLst/>
              <a:ahLst/>
              <a:cxnLst/>
              <a:rect r="r" b="b" t="t" l="l"/>
              <a:pathLst>
                <a:path h="527391" w="2259163">
                  <a:moveTo>
                    <a:pt x="62164" y="0"/>
                  </a:moveTo>
                  <a:lnTo>
                    <a:pt x="2196999" y="0"/>
                  </a:lnTo>
                  <a:cubicBezTo>
                    <a:pt x="2231331" y="0"/>
                    <a:pt x="2259163" y="27832"/>
                    <a:pt x="2259163" y="62164"/>
                  </a:cubicBezTo>
                  <a:lnTo>
                    <a:pt x="2259163" y="465227"/>
                  </a:lnTo>
                  <a:cubicBezTo>
                    <a:pt x="2259163" y="499559"/>
                    <a:pt x="2231331" y="527391"/>
                    <a:pt x="2196999" y="527391"/>
                  </a:cubicBezTo>
                  <a:lnTo>
                    <a:pt x="62164" y="527391"/>
                  </a:lnTo>
                  <a:cubicBezTo>
                    <a:pt x="27832" y="527391"/>
                    <a:pt x="0" y="499559"/>
                    <a:pt x="0" y="465227"/>
                  </a:cubicBezTo>
                  <a:lnTo>
                    <a:pt x="0" y="62164"/>
                  </a:lnTo>
                  <a:cubicBezTo>
                    <a:pt x="0" y="27832"/>
                    <a:pt x="27832" y="0"/>
                    <a:pt x="62164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2259163" cy="508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034686" y="8288139"/>
            <a:ext cx="6089631" cy="89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956" spc="-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de evaluaciones con avanceportrabajador y emisión de certificadosen PDF</a:t>
            </a:r>
          </a:p>
          <a:p>
            <a:pPr algn="l">
              <a:lnSpc>
                <a:spcPts val="1184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066954" y="7998904"/>
            <a:ext cx="5421790" cy="29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b="true" sz="2104" spc="-4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163683" y="5416640"/>
            <a:ext cx="6351556" cy="1482741"/>
            <a:chOff x="0" y="0"/>
            <a:chExt cx="2259163" cy="527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9163" cy="527391"/>
            </a:xfrm>
            <a:custGeom>
              <a:avLst/>
              <a:gdLst/>
              <a:ahLst/>
              <a:cxnLst/>
              <a:rect r="r" b="b" t="t" l="l"/>
              <a:pathLst>
                <a:path h="527391" w="2259163">
                  <a:moveTo>
                    <a:pt x="62164" y="0"/>
                  </a:moveTo>
                  <a:lnTo>
                    <a:pt x="2196999" y="0"/>
                  </a:lnTo>
                  <a:cubicBezTo>
                    <a:pt x="2231331" y="0"/>
                    <a:pt x="2259163" y="27832"/>
                    <a:pt x="2259163" y="62164"/>
                  </a:cubicBezTo>
                  <a:lnTo>
                    <a:pt x="2259163" y="465227"/>
                  </a:lnTo>
                  <a:cubicBezTo>
                    <a:pt x="2259163" y="499559"/>
                    <a:pt x="2231331" y="527391"/>
                    <a:pt x="2196999" y="527391"/>
                  </a:cubicBezTo>
                  <a:lnTo>
                    <a:pt x="62164" y="527391"/>
                  </a:lnTo>
                  <a:cubicBezTo>
                    <a:pt x="27832" y="527391"/>
                    <a:pt x="0" y="499559"/>
                    <a:pt x="0" y="465227"/>
                  </a:cubicBezTo>
                  <a:lnTo>
                    <a:pt x="0" y="62164"/>
                  </a:lnTo>
                  <a:cubicBezTo>
                    <a:pt x="0" y="27832"/>
                    <a:pt x="27832" y="0"/>
                    <a:pt x="62164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2259163" cy="508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25609" y="5986375"/>
            <a:ext cx="6089631" cy="65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956" spc="-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Autenticación y autorización con Clerk: roles admin y trabajadorpororganización</a:t>
            </a:r>
          </a:p>
          <a:p>
            <a:pPr algn="l">
              <a:lnSpc>
                <a:spcPts val="118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457877" y="5697140"/>
            <a:ext cx="5421790" cy="29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b="true" sz="2104" spc="-4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163683" y="7718403"/>
            <a:ext cx="6351556" cy="1482741"/>
            <a:chOff x="0" y="0"/>
            <a:chExt cx="2259163" cy="5273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59163" cy="527391"/>
            </a:xfrm>
            <a:custGeom>
              <a:avLst/>
              <a:gdLst/>
              <a:ahLst/>
              <a:cxnLst/>
              <a:rect r="r" b="b" t="t" l="l"/>
              <a:pathLst>
                <a:path h="527391" w="2259163">
                  <a:moveTo>
                    <a:pt x="62164" y="0"/>
                  </a:moveTo>
                  <a:lnTo>
                    <a:pt x="2196999" y="0"/>
                  </a:lnTo>
                  <a:cubicBezTo>
                    <a:pt x="2231331" y="0"/>
                    <a:pt x="2259163" y="27832"/>
                    <a:pt x="2259163" y="62164"/>
                  </a:cubicBezTo>
                  <a:lnTo>
                    <a:pt x="2259163" y="465227"/>
                  </a:lnTo>
                  <a:cubicBezTo>
                    <a:pt x="2259163" y="499559"/>
                    <a:pt x="2231331" y="527391"/>
                    <a:pt x="2196999" y="527391"/>
                  </a:cubicBezTo>
                  <a:lnTo>
                    <a:pt x="62164" y="527391"/>
                  </a:lnTo>
                  <a:cubicBezTo>
                    <a:pt x="27832" y="527391"/>
                    <a:pt x="0" y="499559"/>
                    <a:pt x="0" y="465227"/>
                  </a:cubicBezTo>
                  <a:lnTo>
                    <a:pt x="0" y="62164"/>
                  </a:lnTo>
                  <a:cubicBezTo>
                    <a:pt x="0" y="27832"/>
                    <a:pt x="27832" y="0"/>
                    <a:pt x="62164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2259163" cy="508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425609" y="8288139"/>
            <a:ext cx="6089631" cy="65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956" spc="-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Integración de pagos con TransbankWebpay Plus medianteSupabase Edge Functions</a:t>
            </a:r>
          </a:p>
          <a:p>
            <a:pPr algn="l">
              <a:lnSpc>
                <a:spcPts val="118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0457877" y="7998904"/>
            <a:ext cx="5421790" cy="29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4"/>
              </a:lnSpc>
            </a:pPr>
            <a:r>
              <a:rPr lang="en-US" b="true" sz="2104" spc="-4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70725" y="3087719"/>
            <a:ext cx="13415873" cy="6618348"/>
          </a:xfrm>
          <a:custGeom>
            <a:avLst/>
            <a:gdLst/>
            <a:ahLst/>
            <a:cxnLst/>
            <a:rect r="r" b="b" t="t" l="l"/>
            <a:pathLst>
              <a:path h="6618348" w="13415873">
                <a:moveTo>
                  <a:pt x="0" y="0"/>
                </a:moveTo>
                <a:lnTo>
                  <a:pt x="13415872" y="0"/>
                </a:lnTo>
                <a:lnTo>
                  <a:pt x="13415872" y="6618348"/>
                </a:lnTo>
                <a:lnTo>
                  <a:pt x="0" y="6618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5297" y="1650365"/>
            <a:ext cx="16577405" cy="79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7"/>
              </a:lnSpc>
            </a:pPr>
            <a:r>
              <a:rPr lang="en-US" b="true" sz="6384" spc="-663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INDUCTA  CHILE - ARQUITECTURA ACTUAL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43147" y="2610199"/>
            <a:ext cx="13871029" cy="30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9"/>
              </a:lnSpc>
            </a:pPr>
            <a:r>
              <a:rPr lang="en-US" sz="2299" spc="-45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React SPA - Clerk (IdP multi-tenant) - Supabase BaaS - Transbank Webpay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14889" y="2219959"/>
            <a:ext cx="14458221" cy="99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b="true" sz="8000" spc="-832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FLUJO DEL SISTEMA (PASOS)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353639" y="4518003"/>
            <a:ext cx="414943" cy="314215"/>
            <a:chOff x="0" y="0"/>
            <a:chExt cx="107335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3358" cy="812800"/>
            </a:xfrm>
            <a:custGeom>
              <a:avLst/>
              <a:gdLst/>
              <a:ahLst/>
              <a:cxnLst/>
              <a:rect r="r" b="b" t="t" l="l"/>
              <a:pathLst>
                <a:path h="812800" w="1073358">
                  <a:moveTo>
                    <a:pt x="536679" y="0"/>
                  </a:moveTo>
                  <a:cubicBezTo>
                    <a:pt x="240279" y="0"/>
                    <a:pt x="0" y="181951"/>
                    <a:pt x="0" y="406400"/>
                  </a:cubicBezTo>
                  <a:cubicBezTo>
                    <a:pt x="0" y="630849"/>
                    <a:pt x="240279" y="812800"/>
                    <a:pt x="536679" y="812800"/>
                  </a:cubicBezTo>
                  <a:cubicBezTo>
                    <a:pt x="833079" y="812800"/>
                    <a:pt x="1073358" y="630849"/>
                    <a:pt x="1073358" y="406400"/>
                  </a:cubicBezTo>
                  <a:cubicBezTo>
                    <a:pt x="1073358" y="181951"/>
                    <a:pt x="833079" y="0"/>
                    <a:pt x="5366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0627" y="95250"/>
              <a:ext cx="872103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2768582" y="4675111"/>
            <a:ext cx="279898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5412795" y="4518003"/>
            <a:ext cx="414943" cy="314215"/>
            <a:chOff x="0" y="0"/>
            <a:chExt cx="1073358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3358" cy="812800"/>
            </a:xfrm>
            <a:custGeom>
              <a:avLst/>
              <a:gdLst/>
              <a:ahLst/>
              <a:cxnLst/>
              <a:rect r="r" b="b" t="t" l="l"/>
              <a:pathLst>
                <a:path h="812800" w="1073358">
                  <a:moveTo>
                    <a:pt x="536679" y="0"/>
                  </a:moveTo>
                  <a:cubicBezTo>
                    <a:pt x="240279" y="0"/>
                    <a:pt x="0" y="181951"/>
                    <a:pt x="0" y="406400"/>
                  </a:cubicBezTo>
                  <a:cubicBezTo>
                    <a:pt x="0" y="630849"/>
                    <a:pt x="240279" y="812800"/>
                    <a:pt x="536679" y="812800"/>
                  </a:cubicBezTo>
                  <a:cubicBezTo>
                    <a:pt x="833079" y="812800"/>
                    <a:pt x="1073358" y="630849"/>
                    <a:pt x="1073358" y="406400"/>
                  </a:cubicBezTo>
                  <a:cubicBezTo>
                    <a:pt x="1073358" y="181951"/>
                    <a:pt x="833079" y="0"/>
                    <a:pt x="5366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0627" y="95250"/>
              <a:ext cx="872103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5827738" y="4675111"/>
            <a:ext cx="279898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626726" y="4518003"/>
            <a:ext cx="414943" cy="314215"/>
            <a:chOff x="0" y="0"/>
            <a:chExt cx="1073358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3358" cy="812800"/>
            </a:xfrm>
            <a:custGeom>
              <a:avLst/>
              <a:gdLst/>
              <a:ahLst/>
              <a:cxnLst/>
              <a:rect r="r" b="b" t="t" l="l"/>
              <a:pathLst>
                <a:path h="812800" w="1073358">
                  <a:moveTo>
                    <a:pt x="536679" y="0"/>
                  </a:moveTo>
                  <a:cubicBezTo>
                    <a:pt x="240279" y="0"/>
                    <a:pt x="0" y="181951"/>
                    <a:pt x="0" y="406400"/>
                  </a:cubicBezTo>
                  <a:cubicBezTo>
                    <a:pt x="0" y="630849"/>
                    <a:pt x="240279" y="812800"/>
                    <a:pt x="536679" y="812800"/>
                  </a:cubicBezTo>
                  <a:cubicBezTo>
                    <a:pt x="833079" y="812800"/>
                    <a:pt x="1073358" y="630849"/>
                    <a:pt x="1073358" y="406400"/>
                  </a:cubicBezTo>
                  <a:cubicBezTo>
                    <a:pt x="1073358" y="181951"/>
                    <a:pt x="833079" y="0"/>
                    <a:pt x="5366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0627" y="95250"/>
              <a:ext cx="872103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9041669" y="4675111"/>
            <a:ext cx="279898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1683136" y="4518003"/>
            <a:ext cx="414943" cy="314215"/>
            <a:chOff x="0" y="0"/>
            <a:chExt cx="1073358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3358" cy="812800"/>
            </a:xfrm>
            <a:custGeom>
              <a:avLst/>
              <a:gdLst/>
              <a:ahLst/>
              <a:cxnLst/>
              <a:rect r="r" b="b" t="t" l="l"/>
              <a:pathLst>
                <a:path h="812800" w="1073358">
                  <a:moveTo>
                    <a:pt x="536679" y="0"/>
                  </a:moveTo>
                  <a:cubicBezTo>
                    <a:pt x="240279" y="0"/>
                    <a:pt x="0" y="181951"/>
                    <a:pt x="0" y="406400"/>
                  </a:cubicBezTo>
                  <a:cubicBezTo>
                    <a:pt x="0" y="630849"/>
                    <a:pt x="240279" y="812800"/>
                    <a:pt x="536679" y="812800"/>
                  </a:cubicBezTo>
                  <a:cubicBezTo>
                    <a:pt x="833079" y="812800"/>
                    <a:pt x="1073358" y="630849"/>
                    <a:pt x="1073358" y="406400"/>
                  </a:cubicBezTo>
                  <a:cubicBezTo>
                    <a:pt x="1073358" y="181951"/>
                    <a:pt x="833079" y="0"/>
                    <a:pt x="5366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0627" y="95250"/>
              <a:ext cx="872103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2098079" y="4675111"/>
            <a:ext cx="2798988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689595" y="4518003"/>
            <a:ext cx="414943" cy="314215"/>
            <a:chOff x="0" y="0"/>
            <a:chExt cx="1073358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3358" cy="812800"/>
            </a:xfrm>
            <a:custGeom>
              <a:avLst/>
              <a:gdLst/>
              <a:ahLst/>
              <a:cxnLst/>
              <a:rect r="r" b="b" t="t" l="l"/>
              <a:pathLst>
                <a:path h="812800" w="1073358">
                  <a:moveTo>
                    <a:pt x="536679" y="0"/>
                  </a:moveTo>
                  <a:cubicBezTo>
                    <a:pt x="240279" y="0"/>
                    <a:pt x="0" y="181951"/>
                    <a:pt x="0" y="406400"/>
                  </a:cubicBezTo>
                  <a:cubicBezTo>
                    <a:pt x="0" y="630849"/>
                    <a:pt x="240279" y="812800"/>
                    <a:pt x="536679" y="812800"/>
                  </a:cubicBezTo>
                  <a:cubicBezTo>
                    <a:pt x="833079" y="812800"/>
                    <a:pt x="1073358" y="630849"/>
                    <a:pt x="1073358" y="406400"/>
                  </a:cubicBezTo>
                  <a:cubicBezTo>
                    <a:pt x="1073358" y="181951"/>
                    <a:pt x="833079" y="0"/>
                    <a:pt x="5366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0627" y="95250"/>
              <a:ext cx="872103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13629" y="5265183"/>
            <a:ext cx="2494963" cy="220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  <a:spcBef>
                <a:spcPct val="0"/>
              </a:spcBef>
            </a:pPr>
            <a:r>
              <a:rPr lang="en-US" sz="2481" spc="-4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1. El usuario inicia sesión en Clerk; la organización activa determina el tenant (org_id).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72785" y="5265183"/>
            <a:ext cx="2494963" cy="220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  <a:spcBef>
                <a:spcPct val="0"/>
              </a:spcBef>
            </a:pPr>
            <a:r>
              <a:rPr lang="en-US" sz="2481" spc="-4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 2</a:t>
            </a:r>
            <a:r>
              <a:rPr lang="en-US" sz="2481" spc="-4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. El frontend adjunta el JWT de Clerk en cada solicitud a la API REST de Supabase.</a:t>
            </a:r>
          </a:p>
          <a:p>
            <a:pPr algn="ctr">
              <a:lnSpc>
                <a:spcPts val="2481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586716" y="5265183"/>
            <a:ext cx="2494963" cy="406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  <a:spcBef>
                <a:spcPct val="0"/>
              </a:spcBef>
            </a:pPr>
            <a:r>
              <a:rPr lang="en-US" sz="2481" spc="-4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3–4</a:t>
            </a:r>
            <a:r>
              <a:rPr lang="en-US" sz="2481" spc="-4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. Las políticas RLS filtran automáticamente las filas por id_empresa antes de consultar PostgreSQL, garantizando aislamiento entre tenants.</a:t>
            </a:r>
          </a:p>
          <a:p>
            <a:pPr algn="ctr">
              <a:lnSpc>
                <a:spcPts val="2481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593175" y="5265183"/>
            <a:ext cx="2494963" cy="437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  <a:spcBef>
                <a:spcPct val="0"/>
              </a:spcBef>
            </a:pPr>
            <a:r>
              <a:rPr lang="en-US" sz="2481" spc="-4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5–7</a:t>
            </a:r>
            <a:r>
              <a:rPr lang="en-US" sz="2481" spc="-4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. El flujo de pago invoca las Edge Functions tbk-iniciar y tbk-confirmar, que se comunican con Transbank y registran el resultado en la tabla pagos_transbank.</a:t>
            </a:r>
          </a:p>
          <a:p>
            <a:pPr algn="ctr">
              <a:lnSpc>
                <a:spcPts val="2481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3649585" y="5265183"/>
            <a:ext cx="2494963" cy="313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1"/>
              </a:lnSpc>
              <a:spcBef>
                <a:spcPct val="0"/>
              </a:spcBef>
            </a:pPr>
            <a:r>
              <a:rPr lang="en-US" sz="2481" spc="-4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en-US" sz="2481" spc="-49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. Certificados generados y logos de empresa se almacenan en Supabase Storage, también protegido por políticas RLS.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0420" y="1978625"/>
            <a:ext cx="9417671" cy="6873702"/>
          </a:xfrm>
          <a:custGeom>
            <a:avLst/>
            <a:gdLst/>
            <a:ahLst/>
            <a:cxnLst/>
            <a:rect r="r" b="b" t="t" l="l"/>
            <a:pathLst>
              <a:path h="6873702" w="9417671">
                <a:moveTo>
                  <a:pt x="0" y="0"/>
                </a:moveTo>
                <a:lnTo>
                  <a:pt x="9417671" y="0"/>
                </a:lnTo>
                <a:lnTo>
                  <a:pt x="9417671" y="6873702"/>
                </a:lnTo>
                <a:lnTo>
                  <a:pt x="0" y="6873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0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85301" y="2254850"/>
            <a:ext cx="6462107" cy="312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b="true" sz="9600" spc="-998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MODELO DE DATOS INICIAL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6182" y="2196373"/>
            <a:ext cx="7457476" cy="7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b="true" sz="5677" spc="-590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TABLAS  DEL  ESQUEMA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871038"/>
            <a:ext cx="6904924" cy="4217009"/>
            <a:chOff x="0" y="0"/>
            <a:chExt cx="2259163" cy="13797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9163" cy="1379727"/>
            </a:xfrm>
            <a:custGeom>
              <a:avLst/>
              <a:gdLst/>
              <a:ahLst/>
              <a:cxnLst/>
              <a:rect r="r" b="b" t="t" l="l"/>
              <a:pathLst>
                <a:path h="1379727" w="2259163">
                  <a:moveTo>
                    <a:pt x="57182" y="0"/>
                  </a:moveTo>
                  <a:lnTo>
                    <a:pt x="2201981" y="0"/>
                  </a:lnTo>
                  <a:cubicBezTo>
                    <a:pt x="2217147" y="0"/>
                    <a:pt x="2231691" y="6025"/>
                    <a:pt x="2242415" y="16748"/>
                  </a:cubicBezTo>
                  <a:cubicBezTo>
                    <a:pt x="2253139" y="27472"/>
                    <a:pt x="2259163" y="42016"/>
                    <a:pt x="2259163" y="57182"/>
                  </a:cubicBezTo>
                  <a:lnTo>
                    <a:pt x="2259163" y="1322545"/>
                  </a:lnTo>
                  <a:cubicBezTo>
                    <a:pt x="2259163" y="1337711"/>
                    <a:pt x="2253139" y="1352255"/>
                    <a:pt x="2242415" y="1362979"/>
                  </a:cubicBezTo>
                  <a:cubicBezTo>
                    <a:pt x="2231691" y="1373703"/>
                    <a:pt x="2217147" y="1379727"/>
                    <a:pt x="2201981" y="1379727"/>
                  </a:cubicBezTo>
                  <a:lnTo>
                    <a:pt x="57182" y="1379727"/>
                  </a:lnTo>
                  <a:cubicBezTo>
                    <a:pt x="25601" y="1379727"/>
                    <a:pt x="0" y="1354126"/>
                    <a:pt x="0" y="1322545"/>
                  </a:cubicBezTo>
                  <a:lnTo>
                    <a:pt x="0" y="57182"/>
                  </a:lnTo>
                  <a:cubicBezTo>
                    <a:pt x="0" y="25601"/>
                    <a:pt x="25601" y="0"/>
                    <a:pt x="57182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259163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3445" y="4663254"/>
            <a:ext cx="6620179" cy="22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test_induccion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pregunta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opcion_respuesta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avance_tr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abajador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certificado_emitido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pagos_transbank</a:t>
            </a: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48525" y="4193367"/>
            <a:ext cx="5894154" cy="3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Tablas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97313" y="3871038"/>
            <a:ext cx="6904924" cy="4217009"/>
            <a:chOff x="0" y="0"/>
            <a:chExt cx="2259163" cy="13797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9163" cy="1379727"/>
            </a:xfrm>
            <a:custGeom>
              <a:avLst/>
              <a:gdLst/>
              <a:ahLst/>
              <a:cxnLst/>
              <a:rect r="r" b="b" t="t" l="l"/>
              <a:pathLst>
                <a:path h="1379727" w="2259163">
                  <a:moveTo>
                    <a:pt x="57182" y="0"/>
                  </a:moveTo>
                  <a:lnTo>
                    <a:pt x="2201981" y="0"/>
                  </a:lnTo>
                  <a:cubicBezTo>
                    <a:pt x="2217147" y="0"/>
                    <a:pt x="2231691" y="6025"/>
                    <a:pt x="2242415" y="16748"/>
                  </a:cubicBezTo>
                  <a:cubicBezTo>
                    <a:pt x="2253139" y="27472"/>
                    <a:pt x="2259163" y="42016"/>
                    <a:pt x="2259163" y="57182"/>
                  </a:cubicBezTo>
                  <a:lnTo>
                    <a:pt x="2259163" y="1322545"/>
                  </a:lnTo>
                  <a:cubicBezTo>
                    <a:pt x="2259163" y="1337711"/>
                    <a:pt x="2253139" y="1352255"/>
                    <a:pt x="2242415" y="1362979"/>
                  </a:cubicBezTo>
                  <a:cubicBezTo>
                    <a:pt x="2231691" y="1373703"/>
                    <a:pt x="2217147" y="1379727"/>
                    <a:pt x="2201981" y="1379727"/>
                  </a:cubicBezTo>
                  <a:lnTo>
                    <a:pt x="57182" y="1379727"/>
                  </a:lnTo>
                  <a:cubicBezTo>
                    <a:pt x="25601" y="1379727"/>
                    <a:pt x="0" y="1354126"/>
                    <a:pt x="0" y="1322545"/>
                  </a:cubicBezTo>
                  <a:lnTo>
                    <a:pt x="0" y="57182"/>
                  </a:lnTo>
                  <a:cubicBezTo>
                    <a:pt x="0" y="25601"/>
                    <a:pt x="25601" y="0"/>
                    <a:pt x="57182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259163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39686" y="4740867"/>
            <a:ext cx="6620179" cy="280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id_empresapre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sentecomo FK encasitodas las tablas (clave de tenant)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RLS activoen el schema public: cadasesión solo accede a su tenant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pagos_transbankpuedeexistir antes de que se active la empres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(flujo de contratación)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certificado_emitidoalmacena la URL del PDF generadoen Storage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Roles diferenciados: admin (gestión) y trabajador (consumo)</a:t>
            </a: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674766" y="4270980"/>
            <a:ext cx="5894154" cy="3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Claves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6182" y="2196373"/>
            <a:ext cx="7457476" cy="7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b="true" sz="5677" spc="-590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STACK TECNOLÓGICO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871038"/>
            <a:ext cx="3190493" cy="4217009"/>
            <a:chOff x="0" y="0"/>
            <a:chExt cx="1043870" cy="13797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3870" cy="1379727"/>
            </a:xfrm>
            <a:custGeom>
              <a:avLst/>
              <a:gdLst/>
              <a:ahLst/>
              <a:cxnLst/>
              <a:rect r="r" b="b" t="t" l="l"/>
              <a:pathLst>
                <a:path h="1379727" w="1043870">
                  <a:moveTo>
                    <a:pt x="123754" y="0"/>
                  </a:moveTo>
                  <a:lnTo>
                    <a:pt x="920116" y="0"/>
                  </a:lnTo>
                  <a:cubicBezTo>
                    <a:pt x="988464" y="0"/>
                    <a:pt x="1043870" y="55407"/>
                    <a:pt x="1043870" y="123754"/>
                  </a:cubicBezTo>
                  <a:lnTo>
                    <a:pt x="1043870" y="1255973"/>
                  </a:lnTo>
                  <a:cubicBezTo>
                    <a:pt x="1043870" y="1324320"/>
                    <a:pt x="988464" y="1379727"/>
                    <a:pt x="920116" y="1379727"/>
                  </a:cubicBezTo>
                  <a:lnTo>
                    <a:pt x="123754" y="1379727"/>
                  </a:lnTo>
                  <a:cubicBezTo>
                    <a:pt x="55407" y="1379727"/>
                    <a:pt x="0" y="1324320"/>
                    <a:pt x="0" y="1255973"/>
                  </a:cubicBezTo>
                  <a:lnTo>
                    <a:pt x="0" y="123754"/>
                  </a:lnTo>
                  <a:cubicBezTo>
                    <a:pt x="0" y="55407"/>
                    <a:pt x="55407" y="0"/>
                    <a:pt x="123754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043870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3445" y="4663254"/>
            <a:ext cx="2695924" cy="243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2129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 19 — biblioteca UI con Concurrent Features</a:t>
            </a:r>
          </a:p>
          <a:p>
            <a:pPr algn="l">
              <a:lnSpc>
                <a:spcPts val="2129"/>
              </a:lnSpc>
            </a:pPr>
            <a:r>
              <a:rPr lang="en-US" sz="2129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Vite — bundler ultrarrápido con HMR</a:t>
            </a:r>
          </a:p>
          <a:p>
            <a:pPr algn="l">
              <a:lnSpc>
                <a:spcPts val="2129"/>
              </a:lnSpc>
            </a:pPr>
            <a:r>
              <a:rPr lang="en-US" sz="2129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Chakra UI — sistema de diseñoaccesible y tipado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8525" y="4193367"/>
            <a:ext cx="5894154" cy="3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66669" y="3871038"/>
            <a:ext cx="3190493" cy="4217009"/>
            <a:chOff x="0" y="0"/>
            <a:chExt cx="1043870" cy="13797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3870" cy="1379727"/>
            </a:xfrm>
            <a:custGeom>
              <a:avLst/>
              <a:gdLst/>
              <a:ahLst/>
              <a:cxnLst/>
              <a:rect r="r" b="b" t="t" l="l"/>
              <a:pathLst>
                <a:path h="1379727" w="1043870">
                  <a:moveTo>
                    <a:pt x="123754" y="0"/>
                  </a:moveTo>
                  <a:lnTo>
                    <a:pt x="920116" y="0"/>
                  </a:lnTo>
                  <a:cubicBezTo>
                    <a:pt x="988464" y="0"/>
                    <a:pt x="1043870" y="55407"/>
                    <a:pt x="1043870" y="123754"/>
                  </a:cubicBezTo>
                  <a:lnTo>
                    <a:pt x="1043870" y="1255973"/>
                  </a:lnTo>
                  <a:cubicBezTo>
                    <a:pt x="1043870" y="1324320"/>
                    <a:pt x="988464" y="1379727"/>
                    <a:pt x="920116" y="1379727"/>
                  </a:cubicBezTo>
                  <a:lnTo>
                    <a:pt x="123754" y="1379727"/>
                  </a:lnTo>
                  <a:cubicBezTo>
                    <a:pt x="55407" y="1379727"/>
                    <a:pt x="0" y="1324320"/>
                    <a:pt x="0" y="1255973"/>
                  </a:cubicBezTo>
                  <a:lnTo>
                    <a:pt x="0" y="123754"/>
                  </a:lnTo>
                  <a:cubicBezTo>
                    <a:pt x="0" y="55407"/>
                    <a:pt x="55407" y="0"/>
                    <a:pt x="123754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043870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551414" y="4663254"/>
            <a:ext cx="2982156" cy="333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Clerk — plataforma de a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utenticación y gestión de organizaciones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Org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anizations — modelo de ten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 nativo para multi-empresa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JWT + org_id — propagación del tenant a cada request</a:t>
            </a:r>
          </a:p>
          <a:p>
            <a:pPr algn="l">
              <a:lnSpc>
                <a:spcPts val="2126"/>
              </a:lnSpc>
            </a:pP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586493" y="4193367"/>
            <a:ext cx="5894154" cy="3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67070" y="3871038"/>
            <a:ext cx="3190493" cy="4217009"/>
            <a:chOff x="0" y="0"/>
            <a:chExt cx="1043870" cy="13797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3870" cy="1379727"/>
            </a:xfrm>
            <a:custGeom>
              <a:avLst/>
              <a:gdLst/>
              <a:ahLst/>
              <a:cxnLst/>
              <a:rect r="r" b="b" t="t" l="l"/>
              <a:pathLst>
                <a:path h="1379727" w="1043870">
                  <a:moveTo>
                    <a:pt x="123754" y="0"/>
                  </a:moveTo>
                  <a:lnTo>
                    <a:pt x="920116" y="0"/>
                  </a:lnTo>
                  <a:cubicBezTo>
                    <a:pt x="988464" y="0"/>
                    <a:pt x="1043870" y="55407"/>
                    <a:pt x="1043870" y="123754"/>
                  </a:cubicBezTo>
                  <a:lnTo>
                    <a:pt x="1043870" y="1255973"/>
                  </a:lnTo>
                  <a:cubicBezTo>
                    <a:pt x="1043870" y="1324320"/>
                    <a:pt x="988464" y="1379727"/>
                    <a:pt x="920116" y="1379727"/>
                  </a:cubicBezTo>
                  <a:lnTo>
                    <a:pt x="123754" y="1379727"/>
                  </a:lnTo>
                  <a:cubicBezTo>
                    <a:pt x="55407" y="1379727"/>
                    <a:pt x="0" y="1324320"/>
                    <a:pt x="0" y="1255973"/>
                  </a:cubicBezTo>
                  <a:lnTo>
                    <a:pt x="0" y="123754"/>
                  </a:lnTo>
                  <a:cubicBezTo>
                    <a:pt x="0" y="55407"/>
                    <a:pt x="55407" y="0"/>
                    <a:pt x="123754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043870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151815" y="4663254"/>
            <a:ext cx="2982156" cy="307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Supabase — Backend a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a Service sobre PostgreSQL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tgres + RLS — base de datosrelacional con aislamiento a nivel de fila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Edge Fun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ctions — serverless en Deno par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lógica de pago</a:t>
            </a:r>
          </a:p>
          <a:p>
            <a:pPr algn="l">
              <a:lnSpc>
                <a:spcPts val="2126"/>
              </a:lnSpc>
            </a:pP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186895" y="4193367"/>
            <a:ext cx="5894154" cy="3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105039" y="3871038"/>
            <a:ext cx="3190493" cy="4217009"/>
            <a:chOff x="0" y="0"/>
            <a:chExt cx="1043870" cy="13797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3870" cy="1379727"/>
            </a:xfrm>
            <a:custGeom>
              <a:avLst/>
              <a:gdLst/>
              <a:ahLst/>
              <a:cxnLst/>
              <a:rect r="r" b="b" t="t" l="l"/>
              <a:pathLst>
                <a:path h="1379727" w="1043870">
                  <a:moveTo>
                    <a:pt x="123754" y="0"/>
                  </a:moveTo>
                  <a:lnTo>
                    <a:pt x="920116" y="0"/>
                  </a:lnTo>
                  <a:cubicBezTo>
                    <a:pt x="988464" y="0"/>
                    <a:pt x="1043870" y="55407"/>
                    <a:pt x="1043870" y="123754"/>
                  </a:cubicBezTo>
                  <a:lnTo>
                    <a:pt x="1043870" y="1255973"/>
                  </a:lnTo>
                  <a:cubicBezTo>
                    <a:pt x="1043870" y="1324320"/>
                    <a:pt x="988464" y="1379727"/>
                    <a:pt x="920116" y="1379727"/>
                  </a:cubicBezTo>
                  <a:lnTo>
                    <a:pt x="123754" y="1379727"/>
                  </a:lnTo>
                  <a:cubicBezTo>
                    <a:pt x="55407" y="1379727"/>
                    <a:pt x="0" y="1324320"/>
                    <a:pt x="0" y="1255973"/>
                  </a:cubicBezTo>
                  <a:lnTo>
                    <a:pt x="0" y="123754"/>
                  </a:lnTo>
                  <a:cubicBezTo>
                    <a:pt x="0" y="55407"/>
                    <a:pt x="55407" y="0"/>
                    <a:pt x="123754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043870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389784" y="4663254"/>
            <a:ext cx="2982156" cy="307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TransbankWebpay Plus — pasarela de pago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local en UF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Podman — contenedores ro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tless para entorno local reproducible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— control de v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ers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iones y colabor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ación del equipo</a:t>
            </a: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4424864" y="4193367"/>
            <a:ext cx="5894154" cy="59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Ops / Pagos</a:t>
            </a:r>
          </a:p>
          <a:p>
            <a:pPr algn="l">
              <a:lnSpc>
                <a:spcPts val="228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6182" y="2196373"/>
            <a:ext cx="7457476" cy="7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b="true" sz="5677" spc="-590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ROLES Y MÓDULOS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871038"/>
            <a:ext cx="6904924" cy="4217009"/>
            <a:chOff x="0" y="0"/>
            <a:chExt cx="2259163" cy="13797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9163" cy="1379727"/>
            </a:xfrm>
            <a:custGeom>
              <a:avLst/>
              <a:gdLst/>
              <a:ahLst/>
              <a:cxnLst/>
              <a:rect r="r" b="b" t="t" l="l"/>
              <a:pathLst>
                <a:path h="1379727" w="2259163">
                  <a:moveTo>
                    <a:pt x="57182" y="0"/>
                  </a:moveTo>
                  <a:lnTo>
                    <a:pt x="2201981" y="0"/>
                  </a:lnTo>
                  <a:cubicBezTo>
                    <a:pt x="2217147" y="0"/>
                    <a:pt x="2231691" y="6025"/>
                    <a:pt x="2242415" y="16748"/>
                  </a:cubicBezTo>
                  <a:cubicBezTo>
                    <a:pt x="2253139" y="27472"/>
                    <a:pt x="2259163" y="42016"/>
                    <a:pt x="2259163" y="57182"/>
                  </a:cubicBezTo>
                  <a:lnTo>
                    <a:pt x="2259163" y="1322545"/>
                  </a:lnTo>
                  <a:cubicBezTo>
                    <a:pt x="2259163" y="1337711"/>
                    <a:pt x="2253139" y="1352255"/>
                    <a:pt x="2242415" y="1362979"/>
                  </a:cubicBezTo>
                  <a:cubicBezTo>
                    <a:pt x="2231691" y="1373703"/>
                    <a:pt x="2217147" y="1379727"/>
                    <a:pt x="2201981" y="1379727"/>
                  </a:cubicBezTo>
                  <a:lnTo>
                    <a:pt x="57182" y="1379727"/>
                  </a:lnTo>
                  <a:cubicBezTo>
                    <a:pt x="25601" y="1379727"/>
                    <a:pt x="0" y="1354126"/>
                    <a:pt x="0" y="1322545"/>
                  </a:cubicBezTo>
                  <a:lnTo>
                    <a:pt x="0" y="57182"/>
                  </a:lnTo>
                  <a:cubicBezTo>
                    <a:pt x="0" y="25601"/>
                    <a:pt x="25601" y="0"/>
                    <a:pt x="57182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259163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3445" y="4663254"/>
            <a:ext cx="6620179" cy="202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 — gestionaempresa, crea te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sts, administratrabajadores y contrata planes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trabajador — accede a sus induccionesasignadas, rindeevaluaciones y descarg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acertificados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Tenant = organización de Clerk → mapeada a empresa.id_empresaen base de datos</a:t>
            </a:r>
          </a:p>
          <a:p>
            <a:pPr algn="l">
              <a:lnSpc>
                <a:spcPts val="2126"/>
              </a:lnSpc>
            </a:pP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48525" y="4193367"/>
            <a:ext cx="5894154" cy="3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97313" y="3871038"/>
            <a:ext cx="6904924" cy="4217009"/>
            <a:chOff x="0" y="0"/>
            <a:chExt cx="2259163" cy="13797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9163" cy="1379727"/>
            </a:xfrm>
            <a:custGeom>
              <a:avLst/>
              <a:gdLst/>
              <a:ahLst/>
              <a:cxnLst/>
              <a:rect r="r" b="b" t="t" l="l"/>
              <a:pathLst>
                <a:path h="1379727" w="2259163">
                  <a:moveTo>
                    <a:pt x="57182" y="0"/>
                  </a:moveTo>
                  <a:lnTo>
                    <a:pt x="2201981" y="0"/>
                  </a:lnTo>
                  <a:cubicBezTo>
                    <a:pt x="2217147" y="0"/>
                    <a:pt x="2231691" y="6025"/>
                    <a:pt x="2242415" y="16748"/>
                  </a:cubicBezTo>
                  <a:cubicBezTo>
                    <a:pt x="2253139" y="27472"/>
                    <a:pt x="2259163" y="42016"/>
                    <a:pt x="2259163" y="57182"/>
                  </a:cubicBezTo>
                  <a:lnTo>
                    <a:pt x="2259163" y="1322545"/>
                  </a:lnTo>
                  <a:cubicBezTo>
                    <a:pt x="2259163" y="1337711"/>
                    <a:pt x="2253139" y="1352255"/>
                    <a:pt x="2242415" y="1362979"/>
                  </a:cubicBezTo>
                  <a:cubicBezTo>
                    <a:pt x="2231691" y="1373703"/>
                    <a:pt x="2217147" y="1379727"/>
                    <a:pt x="2201981" y="1379727"/>
                  </a:cubicBezTo>
                  <a:lnTo>
                    <a:pt x="57182" y="1379727"/>
                  </a:lnTo>
                  <a:cubicBezTo>
                    <a:pt x="25601" y="1379727"/>
                    <a:pt x="0" y="1354126"/>
                    <a:pt x="0" y="1322545"/>
                  </a:cubicBezTo>
                  <a:lnTo>
                    <a:pt x="0" y="57182"/>
                  </a:lnTo>
                  <a:cubicBezTo>
                    <a:pt x="0" y="25601"/>
                    <a:pt x="25601" y="0"/>
                    <a:pt x="57182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2259163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39686" y="4740867"/>
            <a:ext cx="6620179" cy="307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iSitio público — landi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ng con información de planes y registro de empresas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Auth / post-login — flujo de bienvenida, selección de rol y redirección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ashboard — panel de control con métricas de avanceportrab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ajador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Contratar / pagos — selección de plan e integración con TransbankWebpay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ests + certificados — módulo de evaluaciones, avance y descarga de certificados PDF</a:t>
            </a:r>
          </a:p>
          <a:p>
            <a:pPr algn="l">
              <a:lnSpc>
                <a:spcPts val="2126"/>
              </a:lnSpc>
            </a:pP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674766" y="4270980"/>
            <a:ext cx="5894154" cy="3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Módulos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871038"/>
            <a:ext cx="6904924" cy="4217009"/>
            <a:chOff x="0" y="0"/>
            <a:chExt cx="2259163" cy="1379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9163" cy="1379727"/>
            </a:xfrm>
            <a:custGeom>
              <a:avLst/>
              <a:gdLst/>
              <a:ahLst/>
              <a:cxnLst/>
              <a:rect r="r" b="b" t="t" l="l"/>
              <a:pathLst>
                <a:path h="1379727" w="2259163">
                  <a:moveTo>
                    <a:pt x="57182" y="0"/>
                  </a:moveTo>
                  <a:lnTo>
                    <a:pt x="2201981" y="0"/>
                  </a:lnTo>
                  <a:cubicBezTo>
                    <a:pt x="2217147" y="0"/>
                    <a:pt x="2231691" y="6025"/>
                    <a:pt x="2242415" y="16748"/>
                  </a:cubicBezTo>
                  <a:cubicBezTo>
                    <a:pt x="2253139" y="27472"/>
                    <a:pt x="2259163" y="42016"/>
                    <a:pt x="2259163" y="57182"/>
                  </a:cubicBezTo>
                  <a:lnTo>
                    <a:pt x="2259163" y="1322545"/>
                  </a:lnTo>
                  <a:cubicBezTo>
                    <a:pt x="2259163" y="1337711"/>
                    <a:pt x="2253139" y="1352255"/>
                    <a:pt x="2242415" y="1362979"/>
                  </a:cubicBezTo>
                  <a:cubicBezTo>
                    <a:pt x="2231691" y="1373703"/>
                    <a:pt x="2217147" y="1379727"/>
                    <a:pt x="2201981" y="1379727"/>
                  </a:cubicBezTo>
                  <a:lnTo>
                    <a:pt x="57182" y="1379727"/>
                  </a:lnTo>
                  <a:cubicBezTo>
                    <a:pt x="25601" y="1379727"/>
                    <a:pt x="0" y="1354126"/>
                    <a:pt x="0" y="1322545"/>
                  </a:cubicBezTo>
                  <a:lnTo>
                    <a:pt x="0" y="57182"/>
                  </a:lnTo>
                  <a:cubicBezTo>
                    <a:pt x="0" y="25601"/>
                    <a:pt x="25601" y="0"/>
                    <a:pt x="57182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259163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97313" y="3871038"/>
            <a:ext cx="6904924" cy="4217009"/>
            <a:chOff x="0" y="0"/>
            <a:chExt cx="2259163" cy="13797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9163" cy="1379727"/>
            </a:xfrm>
            <a:custGeom>
              <a:avLst/>
              <a:gdLst/>
              <a:ahLst/>
              <a:cxnLst/>
              <a:rect r="r" b="b" t="t" l="l"/>
              <a:pathLst>
                <a:path h="1379727" w="2259163">
                  <a:moveTo>
                    <a:pt x="57182" y="0"/>
                  </a:moveTo>
                  <a:lnTo>
                    <a:pt x="2201981" y="0"/>
                  </a:lnTo>
                  <a:cubicBezTo>
                    <a:pt x="2217147" y="0"/>
                    <a:pt x="2231691" y="6025"/>
                    <a:pt x="2242415" y="16748"/>
                  </a:cubicBezTo>
                  <a:cubicBezTo>
                    <a:pt x="2253139" y="27472"/>
                    <a:pt x="2259163" y="42016"/>
                    <a:pt x="2259163" y="57182"/>
                  </a:cubicBezTo>
                  <a:lnTo>
                    <a:pt x="2259163" y="1322545"/>
                  </a:lnTo>
                  <a:cubicBezTo>
                    <a:pt x="2259163" y="1337711"/>
                    <a:pt x="2253139" y="1352255"/>
                    <a:pt x="2242415" y="1362979"/>
                  </a:cubicBezTo>
                  <a:cubicBezTo>
                    <a:pt x="2231691" y="1373703"/>
                    <a:pt x="2217147" y="1379727"/>
                    <a:pt x="2201981" y="1379727"/>
                  </a:cubicBezTo>
                  <a:lnTo>
                    <a:pt x="57182" y="1379727"/>
                  </a:lnTo>
                  <a:cubicBezTo>
                    <a:pt x="25601" y="1379727"/>
                    <a:pt x="0" y="1354126"/>
                    <a:pt x="0" y="1322545"/>
                  </a:cubicBezTo>
                  <a:lnTo>
                    <a:pt x="0" y="57182"/>
                  </a:lnTo>
                  <a:cubicBezTo>
                    <a:pt x="0" y="25601"/>
                    <a:pt x="25601" y="0"/>
                    <a:pt x="57182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259163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1863" y="3659450"/>
            <a:ext cx="262154" cy="4769151"/>
          </a:xfrm>
          <a:custGeom>
            <a:avLst/>
            <a:gdLst/>
            <a:ahLst/>
            <a:cxnLst/>
            <a:rect r="r" b="b" t="t" l="l"/>
            <a:pathLst>
              <a:path h="4769151" w="262154">
                <a:moveTo>
                  <a:pt x="0" y="0"/>
                </a:moveTo>
                <a:lnTo>
                  <a:pt x="262154" y="0"/>
                </a:lnTo>
                <a:lnTo>
                  <a:pt x="262154" y="4769152"/>
                </a:lnTo>
                <a:lnTo>
                  <a:pt x="0" y="4769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777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6182" y="2196373"/>
            <a:ext cx="7457476" cy="7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b="true" sz="5677" spc="-590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EQUIPO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3445" y="4663254"/>
            <a:ext cx="6620179" cy="22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 Backend &amp; Cloud — arquitectura, infraestructura y seguridad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upabase + RLS — diseño de esquema, políticas de seguridad a nivel de fila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Clerk — configuración de organizaciones, roles y propagación de JWT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ansbank / Edge Functions — integración de pagos y lógica serverless en Deno</a:t>
            </a: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48525" y="4193367"/>
            <a:ext cx="5894154" cy="3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Hans Elfert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9686" y="4740867"/>
            <a:ext cx="6620179" cy="22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 Frontend &amp; UI/UX — interfaz de usuario, experi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encia y flujosvisuales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 / Vite / Chakra UI — desarrollo de componentes y sistema de diseño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Flujos de acceso — autenticación, redirección post-login y vistas por rol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Tests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certificados PDF — módulo de evaluaciones y generación de documentos</a:t>
            </a: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674766" y="4270980"/>
            <a:ext cx="5894154" cy="30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b="true" sz="2287" spc="-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Mateo Martínez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366236" y="3594966"/>
            <a:ext cx="262154" cy="4769151"/>
          </a:xfrm>
          <a:custGeom>
            <a:avLst/>
            <a:gdLst/>
            <a:ahLst/>
            <a:cxnLst/>
            <a:rect r="r" b="b" t="t" l="l"/>
            <a:pathLst>
              <a:path h="4769151" w="262154">
                <a:moveTo>
                  <a:pt x="0" y="0"/>
                </a:moveTo>
                <a:lnTo>
                  <a:pt x="262155" y="0"/>
                </a:lnTo>
                <a:lnTo>
                  <a:pt x="262155" y="4769152"/>
                </a:lnTo>
                <a:lnTo>
                  <a:pt x="0" y="4769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777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871038"/>
            <a:ext cx="6904924" cy="4217009"/>
            <a:chOff x="0" y="0"/>
            <a:chExt cx="2259163" cy="1379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9163" cy="1379727"/>
            </a:xfrm>
            <a:custGeom>
              <a:avLst/>
              <a:gdLst/>
              <a:ahLst/>
              <a:cxnLst/>
              <a:rect r="r" b="b" t="t" l="l"/>
              <a:pathLst>
                <a:path h="1379727" w="2259163">
                  <a:moveTo>
                    <a:pt x="57182" y="0"/>
                  </a:moveTo>
                  <a:lnTo>
                    <a:pt x="2201981" y="0"/>
                  </a:lnTo>
                  <a:cubicBezTo>
                    <a:pt x="2217147" y="0"/>
                    <a:pt x="2231691" y="6025"/>
                    <a:pt x="2242415" y="16748"/>
                  </a:cubicBezTo>
                  <a:cubicBezTo>
                    <a:pt x="2253139" y="27472"/>
                    <a:pt x="2259163" y="42016"/>
                    <a:pt x="2259163" y="57182"/>
                  </a:cubicBezTo>
                  <a:lnTo>
                    <a:pt x="2259163" y="1322545"/>
                  </a:lnTo>
                  <a:cubicBezTo>
                    <a:pt x="2259163" y="1337711"/>
                    <a:pt x="2253139" y="1352255"/>
                    <a:pt x="2242415" y="1362979"/>
                  </a:cubicBezTo>
                  <a:cubicBezTo>
                    <a:pt x="2231691" y="1373703"/>
                    <a:pt x="2217147" y="1379727"/>
                    <a:pt x="2201981" y="1379727"/>
                  </a:cubicBezTo>
                  <a:lnTo>
                    <a:pt x="57182" y="1379727"/>
                  </a:lnTo>
                  <a:cubicBezTo>
                    <a:pt x="25601" y="1379727"/>
                    <a:pt x="0" y="1354126"/>
                    <a:pt x="0" y="1322545"/>
                  </a:cubicBezTo>
                  <a:lnTo>
                    <a:pt x="0" y="57182"/>
                  </a:lnTo>
                  <a:cubicBezTo>
                    <a:pt x="0" y="25601"/>
                    <a:pt x="25601" y="0"/>
                    <a:pt x="57182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259163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97313" y="3871038"/>
            <a:ext cx="6904924" cy="4217009"/>
            <a:chOff x="0" y="0"/>
            <a:chExt cx="2259163" cy="13797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9163" cy="1379727"/>
            </a:xfrm>
            <a:custGeom>
              <a:avLst/>
              <a:gdLst/>
              <a:ahLst/>
              <a:cxnLst/>
              <a:rect r="r" b="b" t="t" l="l"/>
              <a:pathLst>
                <a:path h="1379727" w="2259163">
                  <a:moveTo>
                    <a:pt x="57182" y="0"/>
                  </a:moveTo>
                  <a:lnTo>
                    <a:pt x="2201981" y="0"/>
                  </a:lnTo>
                  <a:cubicBezTo>
                    <a:pt x="2217147" y="0"/>
                    <a:pt x="2231691" y="6025"/>
                    <a:pt x="2242415" y="16748"/>
                  </a:cubicBezTo>
                  <a:cubicBezTo>
                    <a:pt x="2253139" y="27472"/>
                    <a:pt x="2259163" y="42016"/>
                    <a:pt x="2259163" y="57182"/>
                  </a:cubicBezTo>
                  <a:lnTo>
                    <a:pt x="2259163" y="1322545"/>
                  </a:lnTo>
                  <a:cubicBezTo>
                    <a:pt x="2259163" y="1337711"/>
                    <a:pt x="2253139" y="1352255"/>
                    <a:pt x="2242415" y="1362979"/>
                  </a:cubicBezTo>
                  <a:cubicBezTo>
                    <a:pt x="2231691" y="1373703"/>
                    <a:pt x="2217147" y="1379727"/>
                    <a:pt x="2201981" y="1379727"/>
                  </a:cubicBezTo>
                  <a:lnTo>
                    <a:pt x="57182" y="1379727"/>
                  </a:lnTo>
                  <a:cubicBezTo>
                    <a:pt x="25601" y="1379727"/>
                    <a:pt x="0" y="1354126"/>
                    <a:pt x="0" y="1322545"/>
                  </a:cubicBezTo>
                  <a:lnTo>
                    <a:pt x="0" y="57182"/>
                  </a:lnTo>
                  <a:cubicBezTo>
                    <a:pt x="0" y="25601"/>
                    <a:pt x="25601" y="0"/>
                    <a:pt x="57182" y="0"/>
                  </a:cubicBezTo>
                  <a:close/>
                </a:path>
              </a:pathLst>
            </a:custGeom>
            <a:solidFill>
              <a:srgbClr val="6E6E7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259163" cy="1360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047750"/>
            <a:ext cx="4309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b="true" sz="1799" spc="-35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Capstone 004D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6182" y="1909082"/>
            <a:ext cx="7457476" cy="128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b="true" sz="5677" spc="-590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ESTADO Y PRÓXIMOS PASOS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49775" y="1047750"/>
            <a:ext cx="430952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31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09, Oct,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445" y="4609593"/>
            <a:ext cx="6620179" cy="2547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Arquitectura y base de datosactualizad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 al modelo multi-tenant definitivo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integrado con Clerk: login, organizaciones y flujo post-autenticación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Integración de pagosTr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ansbankfuncionalmediante Edge Functions (tbk-iniciar / tbk-confirmar)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Entorno local containerizado con Podman y configuración reproducible</a:t>
            </a: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48525" y="4193367"/>
            <a:ext cx="5894154" cy="59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287" spc="-4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Hoy</a:t>
            </a:r>
          </a:p>
          <a:p>
            <a:pPr algn="l">
              <a:lnSpc>
                <a:spcPts val="228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639686" y="4740867"/>
            <a:ext cx="6620179" cy="228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UI de gestión de tests: creación de pr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eguntas y opciones de respuesta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de avance del trabajador: seguimiento de progreso y reintentos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Emisiónautomática de</a:t>
            </a: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certificados PDF al aprobarunainducción</a:t>
            </a:r>
          </a:p>
          <a:p>
            <a:pPr algn="l">
              <a:lnSpc>
                <a:spcPts val="2126"/>
              </a:lnSpc>
            </a:pPr>
            <a:r>
              <a:rPr lang="en-US" sz="2126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Demo funcional completa e informe final de portafolio</a:t>
            </a:r>
          </a:p>
          <a:p>
            <a:pPr algn="l">
              <a:lnSpc>
                <a:spcPts val="128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674766" y="4270980"/>
            <a:ext cx="5894154" cy="59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287" spc="-4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Siguiente</a:t>
            </a:r>
          </a:p>
          <a:p>
            <a:pPr algn="l">
              <a:lnSpc>
                <a:spcPts val="2287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DAHXeamBP28</dc:identifier>
  <dcterms:modified xsi:type="dcterms:W3CDTF">2011-08-01T06:04:30Z</dcterms:modified>
  <cp:revision>1</cp:revision>
  <dc:title>Presentacion Proyecto</dc:title>
</cp:coreProperties>
</file>