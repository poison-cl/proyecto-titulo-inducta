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" charset="1" panose="020F0502020204030204"/>
      <p:regular r:id="rId17"/>
    </p:embeddedFont>
    <p:embeddedFont>
      <p:font typeface="Calibri (MS) Bold" charset="1" panose="020F070203040403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80431" cy="10295039"/>
            <a:chOff x="0" y="0"/>
            <a:chExt cx="640575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058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640588">
                  <a:moveTo>
                    <a:pt x="0" y="0"/>
                  </a:moveTo>
                  <a:lnTo>
                    <a:pt x="640588" y="0"/>
                  </a:lnTo>
                  <a:lnTo>
                    <a:pt x="64058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B22A7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876486" y="3689142"/>
            <a:ext cx="4535028" cy="1798691"/>
          </a:xfrm>
          <a:custGeom>
            <a:avLst/>
            <a:gdLst/>
            <a:ahLst/>
            <a:cxnLst/>
            <a:rect r="r" b="b" t="t" l="l"/>
            <a:pathLst>
              <a:path h="1798691" w="4535028">
                <a:moveTo>
                  <a:pt x="0" y="0"/>
                </a:moveTo>
                <a:lnTo>
                  <a:pt x="4535028" y="0"/>
                </a:lnTo>
                <a:lnTo>
                  <a:pt x="4535028" y="1798691"/>
                </a:lnTo>
                <a:lnTo>
                  <a:pt x="0" y="17986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985" r="0" b="-6409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3438535" cy="846202"/>
          </a:xfrm>
          <a:custGeom>
            <a:avLst/>
            <a:gdLst/>
            <a:ahLst/>
            <a:cxnLst/>
            <a:rect r="r" b="b" t="t" l="l"/>
            <a:pathLst>
              <a:path h="846202" w="3438535">
                <a:moveTo>
                  <a:pt x="0" y="0"/>
                </a:moveTo>
                <a:lnTo>
                  <a:pt x="3438535" y="0"/>
                </a:lnTo>
                <a:lnTo>
                  <a:pt x="3438535" y="846202"/>
                </a:lnTo>
                <a:lnTo>
                  <a:pt x="0" y="846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44319" y="5421158"/>
            <a:ext cx="799936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>
                <a:solidFill>
                  <a:srgbClr val="5A6672"/>
                </a:solidFill>
                <a:latin typeface="Calibri (MS)"/>
                <a:ea typeface="Calibri (MS)"/>
                <a:cs typeface="Calibri (MS)"/>
                <a:sym typeface="Calibri (MS)"/>
              </a:rPr>
              <a:t>inducción y capacitación corporativa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305675"/>
            <a:ext cx="6403097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B22A7"/>
                </a:solidFill>
                <a:latin typeface="Calibri (MS)"/>
                <a:ea typeface="Calibri (MS)"/>
                <a:cs typeface="Calibri (MS)"/>
                <a:sym typeface="Calibri (MS)"/>
              </a:rPr>
              <a:t>CA</a:t>
            </a:r>
            <a:r>
              <a:rPr lang="en-US" sz="2401">
                <a:solidFill>
                  <a:srgbClr val="1B22A7"/>
                </a:solidFill>
                <a:latin typeface="Calibri (MS)"/>
                <a:ea typeface="Calibri (MS)"/>
                <a:cs typeface="Calibri (MS)"/>
                <a:sym typeface="Calibri (MS)"/>
              </a:rPr>
              <a:t>PSTONE 004D — Ingeniería en Informática</a:t>
            </a:r>
          </a:p>
          <a:p>
            <a:pPr algn="l">
              <a:lnSpc>
                <a:spcPts val="3002"/>
              </a:lnSpc>
            </a:pPr>
            <a:r>
              <a:rPr lang="en-US" sz="2501" b="true">
                <a:solidFill>
                  <a:srgbClr val="1B22A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Integrantes:</a:t>
            </a:r>
          </a:p>
          <a:p>
            <a:pPr algn="l">
              <a:lnSpc>
                <a:spcPts val="3002"/>
              </a:lnSpc>
            </a:pPr>
            <a:r>
              <a:rPr lang="en-US" sz="2501">
                <a:solidFill>
                  <a:srgbClr val="1B22A7"/>
                </a:solidFill>
                <a:latin typeface="Calibri (MS)"/>
                <a:ea typeface="Calibri (MS)"/>
                <a:cs typeface="Calibri (MS)"/>
                <a:sym typeface="Calibri (MS)"/>
              </a:rPr>
              <a:t>Hans Elfert  ·  Mateo Martínez</a:t>
            </a:r>
          </a:p>
          <a:p>
            <a:pPr algn="l">
              <a:lnSpc>
                <a:spcPts val="3002"/>
              </a:lnSpc>
            </a:pPr>
            <a:r>
              <a:rPr lang="en-US" sz="2501" b="true">
                <a:solidFill>
                  <a:srgbClr val="1B22A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Docente:</a:t>
            </a:r>
          </a:p>
          <a:p>
            <a:pPr algn="l">
              <a:lnSpc>
                <a:spcPts val="3002"/>
              </a:lnSpc>
            </a:pPr>
            <a:r>
              <a:rPr lang="en-US" sz="2501">
                <a:solidFill>
                  <a:srgbClr val="1B22A7"/>
                </a:solidFill>
                <a:latin typeface="Calibri (MS)"/>
                <a:ea typeface="Calibri (MS)"/>
                <a:cs typeface="Calibri (MS)"/>
                <a:sym typeface="Calibri (MS)"/>
              </a:rPr>
              <a:t>Marco Valenzuela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B22A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971" y="2127647"/>
            <a:ext cx="164725" cy="6039755"/>
            <a:chOff x="0" y="0"/>
            <a:chExt cx="219634" cy="8053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583" cy="8053070"/>
            </a:xfrm>
            <a:custGeom>
              <a:avLst/>
              <a:gdLst/>
              <a:ahLst/>
              <a:cxnLst/>
              <a:rect r="r" b="b" t="t" l="l"/>
              <a:pathLst>
                <a:path h="8053070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8053070"/>
                  </a:lnTo>
                  <a:lnTo>
                    <a:pt x="0" y="8053070"/>
                  </a:lnTo>
                  <a:close/>
                </a:path>
              </a:pathLst>
            </a:custGeom>
            <a:solidFill>
              <a:srgbClr val="1A4F7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16284" y="2123623"/>
            <a:ext cx="4388863" cy="6039755"/>
            <a:chOff x="0" y="0"/>
            <a:chExt cx="1155914" cy="15907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55915" cy="1590717"/>
            </a:xfrm>
            <a:custGeom>
              <a:avLst/>
              <a:gdLst/>
              <a:ahLst/>
              <a:cxnLst/>
              <a:rect r="r" b="b" t="t" l="l"/>
              <a:pathLst>
                <a:path h="1590717" w="1155915">
                  <a:moveTo>
                    <a:pt x="0" y="0"/>
                  </a:moveTo>
                  <a:lnTo>
                    <a:pt x="1155915" y="0"/>
                  </a:lnTo>
                  <a:lnTo>
                    <a:pt x="1155915" y="1590717"/>
                  </a:lnTo>
                  <a:lnTo>
                    <a:pt x="0" y="1590717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B22A7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55914" cy="1628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51559" y="2127647"/>
            <a:ext cx="164725" cy="6039755"/>
            <a:chOff x="0" y="0"/>
            <a:chExt cx="219634" cy="80530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583" cy="8053070"/>
            </a:xfrm>
            <a:custGeom>
              <a:avLst/>
              <a:gdLst/>
              <a:ahLst/>
              <a:cxnLst/>
              <a:rect r="r" b="b" t="t" l="l"/>
              <a:pathLst>
                <a:path h="8053070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8053070"/>
                  </a:lnTo>
                  <a:lnTo>
                    <a:pt x="0" y="8053070"/>
                  </a:lnTo>
                  <a:close/>
                </a:path>
              </a:pathLst>
            </a:custGeom>
            <a:solidFill>
              <a:srgbClr val="B54A2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148147" y="2127647"/>
            <a:ext cx="164725" cy="6039755"/>
            <a:chOff x="0" y="0"/>
            <a:chExt cx="219634" cy="80530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583" cy="8053070"/>
            </a:xfrm>
            <a:custGeom>
              <a:avLst/>
              <a:gdLst/>
              <a:ahLst/>
              <a:cxnLst/>
              <a:rect r="r" b="b" t="t" l="l"/>
              <a:pathLst>
                <a:path h="8053070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8053070"/>
                  </a:lnTo>
                  <a:lnTo>
                    <a:pt x="0" y="8053070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9696" y="2127647"/>
            <a:ext cx="4388863" cy="6039755"/>
            <a:chOff x="0" y="0"/>
            <a:chExt cx="1155914" cy="15907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55915" cy="1590717"/>
            </a:xfrm>
            <a:custGeom>
              <a:avLst/>
              <a:gdLst/>
              <a:ahLst/>
              <a:cxnLst/>
              <a:rect r="r" b="b" t="t" l="l"/>
              <a:pathLst>
                <a:path h="1590717" w="1155915">
                  <a:moveTo>
                    <a:pt x="0" y="0"/>
                  </a:moveTo>
                  <a:lnTo>
                    <a:pt x="1155915" y="0"/>
                  </a:lnTo>
                  <a:lnTo>
                    <a:pt x="1155915" y="1590717"/>
                  </a:lnTo>
                  <a:lnTo>
                    <a:pt x="0" y="1590717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B22A7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55914" cy="1628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703691" y="854435"/>
            <a:ext cx="2849166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b="true" sz="4503">
                <a:solidFill>
                  <a:srgbClr val="1B22A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 problema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8214" y="2363295"/>
            <a:ext cx="4552836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A4F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8214" y="2890228"/>
            <a:ext cx="4552836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Planillas y carpetas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Poca evidencia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Proceso lento para RRHH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54803" y="2363295"/>
            <a:ext cx="4552836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B54A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54803" y="2890228"/>
            <a:ext cx="4552836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Riesgo normativo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Mala experiencia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Sin visibilidad de avance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312872" y="2127647"/>
            <a:ext cx="4388863" cy="6039755"/>
            <a:chOff x="0" y="0"/>
            <a:chExt cx="1155914" cy="159071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55915" cy="1590717"/>
            </a:xfrm>
            <a:custGeom>
              <a:avLst/>
              <a:gdLst/>
              <a:ahLst/>
              <a:cxnLst/>
              <a:rect r="r" b="b" t="t" l="l"/>
              <a:pathLst>
                <a:path h="1590717" w="1155915">
                  <a:moveTo>
                    <a:pt x="0" y="0"/>
                  </a:moveTo>
                  <a:lnTo>
                    <a:pt x="1155915" y="0"/>
                  </a:lnTo>
                  <a:lnTo>
                    <a:pt x="1155915" y="1590717"/>
                  </a:lnTo>
                  <a:lnTo>
                    <a:pt x="0" y="1590717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B22A7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155914" cy="1628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651391" y="2363295"/>
            <a:ext cx="4552836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B6E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Oportunidad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51391" y="2890228"/>
            <a:ext cx="4552836" cy="502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SaaS B2B multi-tenant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Inducciones + certificados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Pagos Transbank en UF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5818766" y="9376648"/>
            <a:ext cx="1980185" cy="487311"/>
          </a:xfrm>
          <a:custGeom>
            <a:avLst/>
            <a:gdLst/>
            <a:ahLst/>
            <a:cxnLst/>
            <a:rect r="r" b="b" t="t" l="l"/>
            <a:pathLst>
              <a:path h="487311" w="1980185">
                <a:moveTo>
                  <a:pt x="0" y="0"/>
                </a:moveTo>
                <a:lnTo>
                  <a:pt x="1980185" y="0"/>
                </a:lnTo>
                <a:lnTo>
                  <a:pt x="1980185" y="487311"/>
                </a:lnTo>
                <a:lnTo>
                  <a:pt x="0" y="4873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5926367" y="8633940"/>
            <a:ext cx="1872584" cy="742708"/>
          </a:xfrm>
          <a:custGeom>
            <a:avLst/>
            <a:gdLst/>
            <a:ahLst/>
            <a:cxnLst/>
            <a:rect r="r" b="b" t="t" l="l"/>
            <a:pathLst>
              <a:path h="742708" w="1872584">
                <a:moveTo>
                  <a:pt x="0" y="0"/>
                </a:moveTo>
                <a:lnTo>
                  <a:pt x="1872584" y="0"/>
                </a:lnTo>
                <a:lnTo>
                  <a:pt x="1872584" y="742708"/>
                </a:lnTo>
                <a:lnTo>
                  <a:pt x="0" y="742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9985" r="0" b="-64094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B22A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5627816" y="3283487"/>
            <a:ext cx="6188003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b="true" sz="4503">
                <a:solidFill>
                  <a:srgbClr val="1B22A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 solución: Inducta Chile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27816" y="4147395"/>
            <a:ext cx="7000916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•  SaaS multi-tenant para inducciones corporativas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•  Roles admin (empresa) y trabajador (empleado)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•  Tests, avance y certificados por empresa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•  Planes con pago Transbank Webpay Plus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•  Stack: React + Clerk + Supabase + Podman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818766" y="9376648"/>
            <a:ext cx="1980185" cy="487311"/>
          </a:xfrm>
          <a:custGeom>
            <a:avLst/>
            <a:gdLst/>
            <a:ahLst/>
            <a:cxnLst/>
            <a:rect r="r" b="b" t="t" l="l"/>
            <a:pathLst>
              <a:path h="487311" w="1980185">
                <a:moveTo>
                  <a:pt x="0" y="0"/>
                </a:moveTo>
                <a:lnTo>
                  <a:pt x="1980185" y="0"/>
                </a:lnTo>
                <a:lnTo>
                  <a:pt x="1980185" y="487311"/>
                </a:lnTo>
                <a:lnTo>
                  <a:pt x="0" y="4873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26367" y="8633940"/>
            <a:ext cx="1872584" cy="742708"/>
          </a:xfrm>
          <a:custGeom>
            <a:avLst/>
            <a:gdLst/>
            <a:ahLst/>
            <a:cxnLst/>
            <a:rect r="r" b="b" t="t" l="l"/>
            <a:pathLst>
              <a:path h="742708" w="1872584">
                <a:moveTo>
                  <a:pt x="0" y="0"/>
                </a:moveTo>
                <a:lnTo>
                  <a:pt x="1872584" y="0"/>
                </a:lnTo>
                <a:lnTo>
                  <a:pt x="1872584" y="742708"/>
                </a:lnTo>
                <a:lnTo>
                  <a:pt x="0" y="742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9985" r="0" b="-64094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B22A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697824" y="751484"/>
            <a:ext cx="2463384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b="true" sz="4503">
                <a:solidFill>
                  <a:srgbClr val="1B22A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47817" y="1922316"/>
            <a:ext cx="16760904" cy="1867405"/>
            <a:chOff x="0" y="0"/>
            <a:chExt cx="22347872" cy="24898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47937" cy="2489962"/>
            </a:xfrm>
            <a:custGeom>
              <a:avLst/>
              <a:gdLst/>
              <a:ahLst/>
              <a:cxnLst/>
              <a:rect r="r" b="b" t="t" l="l"/>
              <a:pathLst>
                <a:path h="2489962" w="22347937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21932900" y="0"/>
                  </a:lnTo>
                  <a:cubicBezTo>
                    <a:pt x="22162136" y="0"/>
                    <a:pt x="22347937" y="185801"/>
                    <a:pt x="22347937" y="415036"/>
                  </a:cubicBezTo>
                  <a:lnTo>
                    <a:pt x="22347937" y="2074926"/>
                  </a:lnTo>
                  <a:cubicBezTo>
                    <a:pt x="22347937" y="2304161"/>
                    <a:pt x="22162136" y="2489962"/>
                    <a:pt x="21932900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EE4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54971" y="1921745"/>
            <a:ext cx="273729" cy="1853108"/>
            <a:chOff x="0" y="0"/>
            <a:chExt cx="364973" cy="24708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4888" cy="2470785"/>
            </a:xfrm>
            <a:custGeom>
              <a:avLst/>
              <a:gdLst/>
              <a:ahLst/>
              <a:cxnLst/>
              <a:rect r="r" b="b" t="t" l="l"/>
              <a:pathLst>
                <a:path h="2470785" w="364888">
                  <a:moveTo>
                    <a:pt x="0" y="0"/>
                  </a:moveTo>
                  <a:lnTo>
                    <a:pt x="364888" y="0"/>
                  </a:lnTo>
                  <a:lnTo>
                    <a:pt x="364888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1B22A7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58214" y="2157393"/>
            <a:ext cx="15946022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b="true" sz="2251">
                <a:solidFill>
                  <a:srgbClr val="1B22A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General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8214" y="2684336"/>
            <a:ext cx="15946022" cy="83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Plataforma SaaS multi-tenant segura para automatizar inducciones, con trabajadores, evaluaciones, certificados y facturación B2B.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47817" y="4179503"/>
            <a:ext cx="8181699" cy="2073307"/>
            <a:chOff x="0" y="0"/>
            <a:chExt cx="10908932" cy="27644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08919" cy="2764409"/>
            </a:xfrm>
            <a:custGeom>
              <a:avLst/>
              <a:gdLst/>
              <a:ahLst/>
              <a:cxnLst/>
              <a:rect r="r" b="b" t="t" l="l"/>
              <a:pathLst>
                <a:path h="2764409" w="10908919">
                  <a:moveTo>
                    <a:pt x="0" y="460756"/>
                  </a:moveTo>
                  <a:cubicBezTo>
                    <a:pt x="0" y="206248"/>
                    <a:pt x="206248" y="0"/>
                    <a:pt x="460756" y="0"/>
                  </a:cubicBezTo>
                  <a:lnTo>
                    <a:pt x="10448163" y="0"/>
                  </a:lnTo>
                  <a:cubicBezTo>
                    <a:pt x="10702671" y="0"/>
                    <a:pt x="10908919" y="206248"/>
                    <a:pt x="10908919" y="460756"/>
                  </a:cubicBezTo>
                  <a:lnTo>
                    <a:pt x="10908919" y="2303653"/>
                  </a:lnTo>
                  <a:cubicBezTo>
                    <a:pt x="10908919" y="2558161"/>
                    <a:pt x="10702671" y="2764409"/>
                    <a:pt x="10448163" y="2764409"/>
                  </a:cubicBezTo>
                  <a:lnTo>
                    <a:pt x="460756" y="2764409"/>
                  </a:lnTo>
                  <a:cubicBezTo>
                    <a:pt x="206248" y="2764409"/>
                    <a:pt x="0" y="2558161"/>
                    <a:pt x="0" y="23036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EE4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189577" y="4577496"/>
            <a:ext cx="1189796" cy="52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0B6E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9577" y="5273354"/>
            <a:ext cx="7229551" cy="58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BD multi-tenant + RLS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27023" y="4179503"/>
            <a:ext cx="8181699" cy="2073307"/>
            <a:chOff x="0" y="0"/>
            <a:chExt cx="10908932" cy="276440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08919" cy="2764409"/>
            </a:xfrm>
            <a:custGeom>
              <a:avLst/>
              <a:gdLst/>
              <a:ahLst/>
              <a:cxnLst/>
              <a:rect r="r" b="b" t="t" l="l"/>
              <a:pathLst>
                <a:path h="2764409" w="10908919">
                  <a:moveTo>
                    <a:pt x="0" y="460756"/>
                  </a:moveTo>
                  <a:cubicBezTo>
                    <a:pt x="0" y="206248"/>
                    <a:pt x="206248" y="0"/>
                    <a:pt x="460756" y="0"/>
                  </a:cubicBezTo>
                  <a:lnTo>
                    <a:pt x="10448163" y="0"/>
                  </a:lnTo>
                  <a:cubicBezTo>
                    <a:pt x="10702671" y="0"/>
                    <a:pt x="10908919" y="206248"/>
                    <a:pt x="10908919" y="460756"/>
                  </a:cubicBezTo>
                  <a:lnTo>
                    <a:pt x="10908919" y="2303653"/>
                  </a:lnTo>
                  <a:cubicBezTo>
                    <a:pt x="10908919" y="2558161"/>
                    <a:pt x="10702671" y="2764409"/>
                    <a:pt x="10448163" y="2764409"/>
                  </a:cubicBezTo>
                  <a:lnTo>
                    <a:pt x="460756" y="2764409"/>
                  </a:lnTo>
                  <a:cubicBezTo>
                    <a:pt x="206248" y="2764409"/>
                    <a:pt x="0" y="2558161"/>
                    <a:pt x="0" y="23036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EE4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768783" y="4577496"/>
            <a:ext cx="1189796" cy="52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0B6E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68783" y="5273354"/>
            <a:ext cx="7229551" cy="58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Auth Clerk (admin / trabajador)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47817" y="6513043"/>
            <a:ext cx="8181699" cy="2073307"/>
            <a:chOff x="0" y="0"/>
            <a:chExt cx="10908932" cy="276440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08919" cy="2764409"/>
            </a:xfrm>
            <a:custGeom>
              <a:avLst/>
              <a:gdLst/>
              <a:ahLst/>
              <a:cxnLst/>
              <a:rect r="r" b="b" t="t" l="l"/>
              <a:pathLst>
                <a:path h="2764409" w="10908919">
                  <a:moveTo>
                    <a:pt x="0" y="460756"/>
                  </a:moveTo>
                  <a:cubicBezTo>
                    <a:pt x="0" y="206248"/>
                    <a:pt x="206248" y="0"/>
                    <a:pt x="460756" y="0"/>
                  </a:cubicBezTo>
                  <a:lnTo>
                    <a:pt x="10448163" y="0"/>
                  </a:lnTo>
                  <a:cubicBezTo>
                    <a:pt x="10702671" y="0"/>
                    <a:pt x="10908919" y="206248"/>
                    <a:pt x="10908919" y="460756"/>
                  </a:cubicBezTo>
                  <a:lnTo>
                    <a:pt x="10908919" y="2303653"/>
                  </a:lnTo>
                  <a:cubicBezTo>
                    <a:pt x="10908919" y="2558161"/>
                    <a:pt x="10702671" y="2764409"/>
                    <a:pt x="10448163" y="2764409"/>
                  </a:cubicBezTo>
                  <a:lnTo>
                    <a:pt x="460756" y="2764409"/>
                  </a:lnTo>
                  <a:cubicBezTo>
                    <a:pt x="206248" y="2764409"/>
                    <a:pt x="0" y="2558161"/>
                    <a:pt x="0" y="23036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EE4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189577" y="6911045"/>
            <a:ext cx="1189796" cy="52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0B6E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9577" y="7606903"/>
            <a:ext cx="7229551" cy="58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Tests, avance y certificados PDF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27023" y="6513043"/>
            <a:ext cx="8181699" cy="2073307"/>
            <a:chOff x="0" y="0"/>
            <a:chExt cx="10908932" cy="27644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08919" cy="2764409"/>
            </a:xfrm>
            <a:custGeom>
              <a:avLst/>
              <a:gdLst/>
              <a:ahLst/>
              <a:cxnLst/>
              <a:rect r="r" b="b" t="t" l="l"/>
              <a:pathLst>
                <a:path h="2764409" w="10908919">
                  <a:moveTo>
                    <a:pt x="0" y="460756"/>
                  </a:moveTo>
                  <a:cubicBezTo>
                    <a:pt x="0" y="206248"/>
                    <a:pt x="206248" y="0"/>
                    <a:pt x="460756" y="0"/>
                  </a:cubicBezTo>
                  <a:lnTo>
                    <a:pt x="10448163" y="0"/>
                  </a:lnTo>
                  <a:cubicBezTo>
                    <a:pt x="10702671" y="0"/>
                    <a:pt x="10908919" y="206248"/>
                    <a:pt x="10908919" y="460756"/>
                  </a:cubicBezTo>
                  <a:lnTo>
                    <a:pt x="10908919" y="2303653"/>
                  </a:lnTo>
                  <a:cubicBezTo>
                    <a:pt x="10908919" y="2558161"/>
                    <a:pt x="10702671" y="2764409"/>
                    <a:pt x="10448163" y="2764409"/>
                  </a:cubicBezTo>
                  <a:lnTo>
                    <a:pt x="460756" y="2764409"/>
                  </a:lnTo>
                  <a:cubicBezTo>
                    <a:pt x="206248" y="2764409"/>
                    <a:pt x="0" y="2558161"/>
                    <a:pt x="0" y="23036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EE4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768783" y="6911045"/>
            <a:ext cx="1189796" cy="52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0B6E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68783" y="7606903"/>
            <a:ext cx="7229551" cy="58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Pagos Transbank (Edge Functions)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818766" y="9376648"/>
            <a:ext cx="1980185" cy="487311"/>
          </a:xfrm>
          <a:custGeom>
            <a:avLst/>
            <a:gdLst/>
            <a:ahLst/>
            <a:cxnLst/>
            <a:rect r="r" b="b" t="t" l="l"/>
            <a:pathLst>
              <a:path h="487311" w="1980185">
                <a:moveTo>
                  <a:pt x="0" y="0"/>
                </a:moveTo>
                <a:lnTo>
                  <a:pt x="1980185" y="0"/>
                </a:lnTo>
                <a:lnTo>
                  <a:pt x="1980185" y="487311"/>
                </a:lnTo>
                <a:lnTo>
                  <a:pt x="0" y="4873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926367" y="8633940"/>
            <a:ext cx="1872584" cy="742708"/>
          </a:xfrm>
          <a:custGeom>
            <a:avLst/>
            <a:gdLst/>
            <a:ahLst/>
            <a:cxnLst/>
            <a:rect r="r" b="b" t="t" l="l"/>
            <a:pathLst>
              <a:path h="742708" w="1872584">
                <a:moveTo>
                  <a:pt x="0" y="0"/>
                </a:moveTo>
                <a:lnTo>
                  <a:pt x="1872584" y="0"/>
                </a:lnTo>
                <a:lnTo>
                  <a:pt x="1872584" y="742708"/>
                </a:lnTo>
                <a:lnTo>
                  <a:pt x="0" y="742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9985" r="0" b="-64094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B22A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64725"/>
            <a:ext cx="18288000" cy="10195055"/>
            <a:chOff x="0" y="0"/>
            <a:chExt cx="24384000" cy="13593407"/>
          </a:xfrm>
        </p:grpSpPr>
        <p:sp>
          <p:nvSpPr>
            <p:cNvPr name="Freeform 5" id="5" descr="ARQUITECTURA_ACTUAL.png"/>
            <p:cNvSpPr/>
            <p:nvPr/>
          </p:nvSpPr>
          <p:spPr>
            <a:xfrm flipH="false" flipV="false" rot="0">
              <a:off x="0" y="0"/>
              <a:ext cx="24384012" cy="13593445"/>
            </a:xfrm>
            <a:custGeom>
              <a:avLst/>
              <a:gdLst/>
              <a:ahLst/>
              <a:cxnLst/>
              <a:rect r="r" b="b" t="t" l="l"/>
              <a:pathLst>
                <a:path h="13593445" w="24384012">
                  <a:moveTo>
                    <a:pt x="0" y="0"/>
                  </a:moveTo>
                  <a:lnTo>
                    <a:pt x="24384012" y="0"/>
                  </a:lnTo>
                  <a:lnTo>
                    <a:pt x="24384012" y="13593445"/>
                  </a:lnTo>
                  <a:lnTo>
                    <a:pt x="0" y="13593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868" r="0" b="-2868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F6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B22A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186369" y="3076563"/>
            <a:ext cx="609932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b="true" sz="4503">
                <a:solidFill>
                  <a:srgbClr val="1B22A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Flujo del sistema (pasos)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49141" y="4062412"/>
            <a:ext cx="12203558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•  1. El usuario inicia sesión en Clerk (organización = tenant).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•  2. El frontend llama a Supabase API con el JWT (org_id).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•  3–4. RLS filtra filas por id_empresa antes de tocar PostgreSQL.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•  5–7. Pagos: Edge Functions tbk-iniciar/confirmar → Transbank → pagos_transbank.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•  8. Certificados/logos viven en Storage (también con RLS).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818766" y="9376648"/>
            <a:ext cx="1980185" cy="487311"/>
          </a:xfrm>
          <a:custGeom>
            <a:avLst/>
            <a:gdLst/>
            <a:ahLst/>
            <a:cxnLst/>
            <a:rect r="r" b="b" t="t" l="l"/>
            <a:pathLst>
              <a:path h="487311" w="1980185">
                <a:moveTo>
                  <a:pt x="0" y="0"/>
                </a:moveTo>
                <a:lnTo>
                  <a:pt x="1980185" y="0"/>
                </a:lnTo>
                <a:lnTo>
                  <a:pt x="1980185" y="487311"/>
                </a:lnTo>
                <a:lnTo>
                  <a:pt x="0" y="4873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26367" y="8633940"/>
            <a:ext cx="1872584" cy="742708"/>
          </a:xfrm>
          <a:custGeom>
            <a:avLst/>
            <a:gdLst/>
            <a:ahLst/>
            <a:cxnLst/>
            <a:rect r="r" b="b" t="t" l="l"/>
            <a:pathLst>
              <a:path h="742708" w="1872584">
                <a:moveTo>
                  <a:pt x="0" y="0"/>
                </a:moveTo>
                <a:lnTo>
                  <a:pt x="1872584" y="0"/>
                </a:lnTo>
                <a:lnTo>
                  <a:pt x="1872584" y="742708"/>
                </a:lnTo>
                <a:lnTo>
                  <a:pt x="0" y="742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9985" r="0" b="-64094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42714" y="2010112"/>
            <a:ext cx="13216411" cy="6148534"/>
            <a:chOff x="0" y="0"/>
            <a:chExt cx="24402453" cy="113525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1352459"/>
            </a:xfrm>
            <a:custGeom>
              <a:avLst/>
              <a:gdLst/>
              <a:ahLst/>
              <a:cxnLst/>
              <a:rect r="r" b="b" t="t" l="l"/>
              <a:pathLst>
                <a:path h="11352459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352459"/>
                  </a:lnTo>
                  <a:lnTo>
                    <a:pt x="0" y="11352459"/>
                  </a:lnTo>
                  <a:close/>
                </a:path>
              </a:pathLst>
            </a:custGeom>
            <a:blipFill>
              <a:blip r:embed="rId2"/>
              <a:stretch>
                <a:fillRect l="0" t="-6492" r="0" b="-649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B22A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528122" y="942975"/>
            <a:ext cx="5231755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b="true" sz="4203">
                <a:solidFill>
                  <a:srgbClr val="1B22A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Modelo de datos actual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818766" y="9376648"/>
            <a:ext cx="1980185" cy="487311"/>
          </a:xfrm>
          <a:custGeom>
            <a:avLst/>
            <a:gdLst/>
            <a:ahLst/>
            <a:cxnLst/>
            <a:rect r="r" b="b" t="t" l="l"/>
            <a:pathLst>
              <a:path h="487311" w="1980185">
                <a:moveTo>
                  <a:pt x="0" y="0"/>
                </a:moveTo>
                <a:lnTo>
                  <a:pt x="1980185" y="0"/>
                </a:lnTo>
                <a:lnTo>
                  <a:pt x="1980185" y="487311"/>
                </a:lnTo>
                <a:lnTo>
                  <a:pt x="0" y="4873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926367" y="8633940"/>
            <a:ext cx="1872584" cy="742708"/>
          </a:xfrm>
          <a:custGeom>
            <a:avLst/>
            <a:gdLst/>
            <a:ahLst/>
            <a:cxnLst/>
            <a:rect r="r" b="b" t="t" l="l"/>
            <a:pathLst>
              <a:path h="742708" w="1872584">
                <a:moveTo>
                  <a:pt x="0" y="0"/>
                </a:moveTo>
                <a:lnTo>
                  <a:pt x="1872584" y="0"/>
                </a:lnTo>
                <a:lnTo>
                  <a:pt x="1872584" y="742708"/>
                </a:lnTo>
                <a:lnTo>
                  <a:pt x="0" y="742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9985" r="0" b="-64094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B22A7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818766" y="9376648"/>
            <a:ext cx="1980185" cy="487311"/>
          </a:xfrm>
          <a:custGeom>
            <a:avLst/>
            <a:gdLst/>
            <a:ahLst/>
            <a:cxnLst/>
            <a:rect r="r" b="b" t="t" l="l"/>
            <a:pathLst>
              <a:path h="487311" w="1980185">
                <a:moveTo>
                  <a:pt x="0" y="0"/>
                </a:moveTo>
                <a:lnTo>
                  <a:pt x="1980185" y="0"/>
                </a:lnTo>
                <a:lnTo>
                  <a:pt x="1980185" y="487311"/>
                </a:lnTo>
                <a:lnTo>
                  <a:pt x="0" y="4873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26367" y="8633940"/>
            <a:ext cx="1872584" cy="742708"/>
          </a:xfrm>
          <a:custGeom>
            <a:avLst/>
            <a:gdLst/>
            <a:ahLst/>
            <a:cxnLst/>
            <a:rect r="r" b="b" t="t" l="l"/>
            <a:pathLst>
              <a:path h="742708" w="1872584">
                <a:moveTo>
                  <a:pt x="0" y="0"/>
                </a:moveTo>
                <a:lnTo>
                  <a:pt x="1872584" y="0"/>
                </a:lnTo>
                <a:lnTo>
                  <a:pt x="1872584" y="742708"/>
                </a:lnTo>
                <a:lnTo>
                  <a:pt x="0" y="742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9985" r="0" b="-64094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780579" y="3372269"/>
            <a:ext cx="6086488" cy="3086100"/>
            <a:chOff x="0" y="0"/>
            <a:chExt cx="1603026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3026" cy="812800"/>
            </a:xfrm>
            <a:custGeom>
              <a:avLst/>
              <a:gdLst/>
              <a:ahLst/>
              <a:cxnLst/>
              <a:rect r="r" b="b" t="t" l="l"/>
              <a:pathLst>
                <a:path h="812800" w="1603026">
                  <a:moveTo>
                    <a:pt x="13992" y="0"/>
                  </a:moveTo>
                  <a:lnTo>
                    <a:pt x="1589034" y="0"/>
                  </a:lnTo>
                  <a:cubicBezTo>
                    <a:pt x="1592745" y="0"/>
                    <a:pt x="1596304" y="1474"/>
                    <a:pt x="1598928" y="4098"/>
                  </a:cubicBezTo>
                  <a:cubicBezTo>
                    <a:pt x="1601551" y="6722"/>
                    <a:pt x="1603026" y="10281"/>
                    <a:pt x="1603026" y="13992"/>
                  </a:cubicBezTo>
                  <a:lnTo>
                    <a:pt x="1603026" y="798808"/>
                  </a:lnTo>
                  <a:cubicBezTo>
                    <a:pt x="1603026" y="802519"/>
                    <a:pt x="1601551" y="806078"/>
                    <a:pt x="1598928" y="808702"/>
                  </a:cubicBezTo>
                  <a:cubicBezTo>
                    <a:pt x="1596304" y="811326"/>
                    <a:pt x="1592745" y="812800"/>
                    <a:pt x="1589034" y="812800"/>
                  </a:cubicBezTo>
                  <a:lnTo>
                    <a:pt x="13992" y="812800"/>
                  </a:lnTo>
                  <a:cubicBezTo>
                    <a:pt x="10281" y="812800"/>
                    <a:pt x="6722" y="811326"/>
                    <a:pt x="4098" y="808702"/>
                  </a:cubicBezTo>
                  <a:cubicBezTo>
                    <a:pt x="1474" y="806078"/>
                    <a:pt x="0" y="802519"/>
                    <a:pt x="0" y="798808"/>
                  </a:cubicBezTo>
                  <a:lnTo>
                    <a:pt x="0" y="13992"/>
                  </a:lnTo>
                  <a:cubicBezTo>
                    <a:pt x="0" y="10281"/>
                    <a:pt x="1474" y="6722"/>
                    <a:pt x="4098" y="4098"/>
                  </a:cubicBezTo>
                  <a:cubicBezTo>
                    <a:pt x="6722" y="1474"/>
                    <a:pt x="10281" y="0"/>
                    <a:pt x="13992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1B22A7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03026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80445" y="3372269"/>
            <a:ext cx="400267" cy="3086100"/>
            <a:chOff x="0" y="0"/>
            <a:chExt cx="736020" cy="56747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5849" cy="5674761"/>
            </a:xfrm>
            <a:custGeom>
              <a:avLst/>
              <a:gdLst/>
              <a:ahLst/>
              <a:cxnLst/>
              <a:rect r="r" b="b" t="t" l="l"/>
              <a:pathLst>
                <a:path h="5674761" w="735849">
                  <a:moveTo>
                    <a:pt x="0" y="0"/>
                  </a:moveTo>
                  <a:lnTo>
                    <a:pt x="735849" y="0"/>
                  </a:lnTo>
                  <a:lnTo>
                    <a:pt x="735849" y="5674761"/>
                  </a:lnTo>
                  <a:lnTo>
                    <a:pt x="0" y="5674761"/>
                  </a:lnTo>
                  <a:close/>
                </a:path>
              </a:pathLst>
            </a:custGeom>
            <a:solidFill>
              <a:srgbClr val="1B22A7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161623" y="2174990"/>
            <a:ext cx="468228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b="true" sz="4503">
                <a:solidFill>
                  <a:srgbClr val="1B22A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Tablas del esquema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16868" y="3448469"/>
            <a:ext cx="81390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b="true" sz="2251">
                <a:solidFill>
                  <a:srgbClr val="1B22A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Tablas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82252" y="3810419"/>
            <a:ext cx="2883141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empresa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usuario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test_induccion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pregunta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opcion_respuesta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avance_trabajador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certificado_emitido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pagos_transbank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732278" y="3372269"/>
            <a:ext cx="6086488" cy="3086100"/>
            <a:chOff x="0" y="0"/>
            <a:chExt cx="1603026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03026" cy="812800"/>
            </a:xfrm>
            <a:custGeom>
              <a:avLst/>
              <a:gdLst/>
              <a:ahLst/>
              <a:cxnLst/>
              <a:rect r="r" b="b" t="t" l="l"/>
              <a:pathLst>
                <a:path h="812800" w="1603026">
                  <a:moveTo>
                    <a:pt x="13992" y="0"/>
                  </a:moveTo>
                  <a:lnTo>
                    <a:pt x="1589034" y="0"/>
                  </a:lnTo>
                  <a:cubicBezTo>
                    <a:pt x="1592745" y="0"/>
                    <a:pt x="1596304" y="1474"/>
                    <a:pt x="1598928" y="4098"/>
                  </a:cubicBezTo>
                  <a:cubicBezTo>
                    <a:pt x="1601551" y="6722"/>
                    <a:pt x="1603026" y="10281"/>
                    <a:pt x="1603026" y="13992"/>
                  </a:cubicBezTo>
                  <a:lnTo>
                    <a:pt x="1603026" y="798808"/>
                  </a:lnTo>
                  <a:cubicBezTo>
                    <a:pt x="1603026" y="802519"/>
                    <a:pt x="1601551" y="806078"/>
                    <a:pt x="1598928" y="808702"/>
                  </a:cubicBezTo>
                  <a:cubicBezTo>
                    <a:pt x="1596304" y="811326"/>
                    <a:pt x="1592745" y="812800"/>
                    <a:pt x="1589034" y="812800"/>
                  </a:cubicBezTo>
                  <a:lnTo>
                    <a:pt x="13992" y="812800"/>
                  </a:lnTo>
                  <a:cubicBezTo>
                    <a:pt x="10281" y="812800"/>
                    <a:pt x="6722" y="811326"/>
                    <a:pt x="4098" y="808702"/>
                  </a:cubicBezTo>
                  <a:cubicBezTo>
                    <a:pt x="1474" y="806078"/>
                    <a:pt x="0" y="802519"/>
                    <a:pt x="0" y="798808"/>
                  </a:cubicBezTo>
                  <a:lnTo>
                    <a:pt x="0" y="13992"/>
                  </a:lnTo>
                  <a:cubicBezTo>
                    <a:pt x="0" y="10281"/>
                    <a:pt x="1474" y="6722"/>
                    <a:pt x="4098" y="4098"/>
                  </a:cubicBezTo>
                  <a:cubicBezTo>
                    <a:pt x="6722" y="1474"/>
                    <a:pt x="10281" y="0"/>
                    <a:pt x="13992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1B22A7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03026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02763" y="3372269"/>
            <a:ext cx="400267" cy="3086100"/>
            <a:chOff x="0" y="0"/>
            <a:chExt cx="736020" cy="56747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5849" cy="5674761"/>
            </a:xfrm>
            <a:custGeom>
              <a:avLst/>
              <a:gdLst/>
              <a:ahLst/>
              <a:cxnLst/>
              <a:rect r="r" b="b" t="t" l="l"/>
              <a:pathLst>
                <a:path h="5674761" w="735849">
                  <a:moveTo>
                    <a:pt x="0" y="0"/>
                  </a:moveTo>
                  <a:lnTo>
                    <a:pt x="735849" y="0"/>
                  </a:lnTo>
                  <a:lnTo>
                    <a:pt x="735849" y="5674761"/>
                  </a:lnTo>
                  <a:lnTo>
                    <a:pt x="0" y="5674761"/>
                  </a:lnTo>
                  <a:close/>
                </a:path>
              </a:pathLst>
            </a:custGeom>
            <a:solidFill>
              <a:srgbClr val="1B22A7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368568" y="3448469"/>
            <a:ext cx="81390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B22A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Claves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333951" y="3810419"/>
            <a:ext cx="2883141" cy="270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Tablas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empresa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usuario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test_induccion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pregunta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opcion_respuesta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avance_trabajador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certificado_emitido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pagos_transbank</a:t>
            </a:r>
          </a:p>
          <a:p>
            <a:pPr algn="l">
              <a:lnSpc>
                <a:spcPts val="2161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B22A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785221" y="2168390"/>
            <a:ext cx="417789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b="true" sz="4503">
                <a:solidFill>
                  <a:srgbClr val="1B22A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Stack tecnológico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46411" y="3328378"/>
            <a:ext cx="3632969" cy="3086100"/>
            <a:chOff x="0" y="0"/>
            <a:chExt cx="956831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6831" cy="812800"/>
            </a:xfrm>
            <a:custGeom>
              <a:avLst/>
              <a:gdLst/>
              <a:ahLst/>
              <a:cxnLst/>
              <a:rect r="r" b="b" t="t" l="l"/>
              <a:pathLst>
                <a:path h="812800" w="956831">
                  <a:moveTo>
                    <a:pt x="23441" y="0"/>
                  </a:moveTo>
                  <a:lnTo>
                    <a:pt x="933390" y="0"/>
                  </a:lnTo>
                  <a:cubicBezTo>
                    <a:pt x="946336" y="0"/>
                    <a:pt x="956831" y="10495"/>
                    <a:pt x="956831" y="23441"/>
                  </a:cubicBezTo>
                  <a:lnTo>
                    <a:pt x="956831" y="789359"/>
                  </a:lnTo>
                  <a:cubicBezTo>
                    <a:pt x="956831" y="802305"/>
                    <a:pt x="946336" y="812800"/>
                    <a:pt x="933390" y="812800"/>
                  </a:cubicBezTo>
                  <a:lnTo>
                    <a:pt x="23441" y="812800"/>
                  </a:lnTo>
                  <a:cubicBezTo>
                    <a:pt x="10495" y="812800"/>
                    <a:pt x="0" y="802305"/>
                    <a:pt x="0" y="789359"/>
                  </a:cubicBezTo>
                  <a:lnTo>
                    <a:pt x="0" y="23441"/>
                  </a:lnTo>
                  <a:cubicBezTo>
                    <a:pt x="0" y="10495"/>
                    <a:pt x="10495" y="0"/>
                    <a:pt x="23441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1B22A7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5683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02271" y="4305300"/>
            <a:ext cx="338607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React 19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Vite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Chakra UI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2271" y="3782198"/>
            <a:ext cx="338607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B6E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636166" y="3328378"/>
            <a:ext cx="3632969" cy="3086100"/>
            <a:chOff x="0" y="0"/>
            <a:chExt cx="956831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6831" cy="812800"/>
            </a:xfrm>
            <a:custGeom>
              <a:avLst/>
              <a:gdLst/>
              <a:ahLst/>
              <a:cxnLst/>
              <a:rect r="r" b="b" t="t" l="l"/>
              <a:pathLst>
                <a:path h="812800" w="956831">
                  <a:moveTo>
                    <a:pt x="23441" y="0"/>
                  </a:moveTo>
                  <a:lnTo>
                    <a:pt x="933390" y="0"/>
                  </a:lnTo>
                  <a:cubicBezTo>
                    <a:pt x="946336" y="0"/>
                    <a:pt x="956831" y="10495"/>
                    <a:pt x="956831" y="23441"/>
                  </a:cubicBezTo>
                  <a:lnTo>
                    <a:pt x="956831" y="789359"/>
                  </a:lnTo>
                  <a:cubicBezTo>
                    <a:pt x="956831" y="802305"/>
                    <a:pt x="946336" y="812800"/>
                    <a:pt x="933390" y="812800"/>
                  </a:cubicBezTo>
                  <a:lnTo>
                    <a:pt x="23441" y="812800"/>
                  </a:lnTo>
                  <a:cubicBezTo>
                    <a:pt x="10495" y="812800"/>
                    <a:pt x="0" y="802305"/>
                    <a:pt x="0" y="789359"/>
                  </a:cubicBezTo>
                  <a:lnTo>
                    <a:pt x="0" y="23441"/>
                  </a:lnTo>
                  <a:cubicBezTo>
                    <a:pt x="0" y="10495"/>
                    <a:pt x="10495" y="0"/>
                    <a:pt x="23441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1B22A7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5683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023868" y="4433278"/>
            <a:ext cx="187848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 + RLS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Edge Functions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23868" y="3999739"/>
            <a:ext cx="82909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B6E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Datos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241198" y="3328378"/>
            <a:ext cx="3632969" cy="3086100"/>
            <a:chOff x="0" y="0"/>
            <a:chExt cx="956831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6831" cy="812800"/>
            </a:xfrm>
            <a:custGeom>
              <a:avLst/>
              <a:gdLst/>
              <a:ahLst/>
              <a:cxnLst/>
              <a:rect r="r" b="b" t="t" l="l"/>
              <a:pathLst>
                <a:path h="812800" w="956831">
                  <a:moveTo>
                    <a:pt x="23441" y="0"/>
                  </a:moveTo>
                  <a:lnTo>
                    <a:pt x="933390" y="0"/>
                  </a:lnTo>
                  <a:cubicBezTo>
                    <a:pt x="946336" y="0"/>
                    <a:pt x="956831" y="10495"/>
                    <a:pt x="956831" y="23441"/>
                  </a:cubicBezTo>
                  <a:lnTo>
                    <a:pt x="956831" y="789359"/>
                  </a:lnTo>
                  <a:cubicBezTo>
                    <a:pt x="956831" y="802305"/>
                    <a:pt x="946336" y="812800"/>
                    <a:pt x="933390" y="812800"/>
                  </a:cubicBezTo>
                  <a:lnTo>
                    <a:pt x="23441" y="812800"/>
                  </a:lnTo>
                  <a:cubicBezTo>
                    <a:pt x="10495" y="812800"/>
                    <a:pt x="0" y="802305"/>
                    <a:pt x="0" y="789359"/>
                  </a:cubicBezTo>
                  <a:lnTo>
                    <a:pt x="0" y="23441"/>
                  </a:lnTo>
                  <a:cubicBezTo>
                    <a:pt x="0" y="10495"/>
                    <a:pt x="10495" y="0"/>
                    <a:pt x="23441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1B22A7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5683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488095" y="4433278"/>
            <a:ext cx="338607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Clerk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Organizations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JWT + org_id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88095" y="3897259"/>
            <a:ext cx="79953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A4F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Auth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4113231" y="3328378"/>
            <a:ext cx="3632969" cy="3086100"/>
            <a:chOff x="0" y="0"/>
            <a:chExt cx="956831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6831" cy="812800"/>
            </a:xfrm>
            <a:custGeom>
              <a:avLst/>
              <a:gdLst/>
              <a:ahLst/>
              <a:cxnLst/>
              <a:rect r="r" b="b" t="t" l="l"/>
              <a:pathLst>
                <a:path h="812800" w="956831">
                  <a:moveTo>
                    <a:pt x="23441" y="0"/>
                  </a:moveTo>
                  <a:lnTo>
                    <a:pt x="933390" y="0"/>
                  </a:lnTo>
                  <a:cubicBezTo>
                    <a:pt x="946336" y="0"/>
                    <a:pt x="956831" y="10495"/>
                    <a:pt x="956831" y="23441"/>
                  </a:cubicBezTo>
                  <a:lnTo>
                    <a:pt x="956831" y="789359"/>
                  </a:lnTo>
                  <a:cubicBezTo>
                    <a:pt x="956831" y="802305"/>
                    <a:pt x="946336" y="812800"/>
                    <a:pt x="933390" y="812800"/>
                  </a:cubicBezTo>
                  <a:lnTo>
                    <a:pt x="23441" y="812800"/>
                  </a:lnTo>
                  <a:cubicBezTo>
                    <a:pt x="10495" y="812800"/>
                    <a:pt x="0" y="802305"/>
                    <a:pt x="0" y="789359"/>
                  </a:cubicBezTo>
                  <a:lnTo>
                    <a:pt x="0" y="23441"/>
                  </a:lnTo>
                  <a:cubicBezTo>
                    <a:pt x="0" y="10495"/>
                    <a:pt x="10495" y="0"/>
                    <a:pt x="23441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1B22A7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5683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40133" y="3897259"/>
            <a:ext cx="338607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A4F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Ops / Pagos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40133" y="4320080"/>
            <a:ext cx="122815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Transbank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Podman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Git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5818766" y="9376648"/>
            <a:ext cx="1980185" cy="487311"/>
          </a:xfrm>
          <a:custGeom>
            <a:avLst/>
            <a:gdLst/>
            <a:ahLst/>
            <a:cxnLst/>
            <a:rect r="r" b="b" t="t" l="l"/>
            <a:pathLst>
              <a:path h="487311" w="1980185">
                <a:moveTo>
                  <a:pt x="0" y="0"/>
                </a:moveTo>
                <a:lnTo>
                  <a:pt x="1980185" y="0"/>
                </a:lnTo>
                <a:lnTo>
                  <a:pt x="1980185" y="487311"/>
                </a:lnTo>
                <a:lnTo>
                  <a:pt x="0" y="4873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926367" y="8633940"/>
            <a:ext cx="1872584" cy="742708"/>
          </a:xfrm>
          <a:custGeom>
            <a:avLst/>
            <a:gdLst/>
            <a:ahLst/>
            <a:cxnLst/>
            <a:rect r="r" b="b" t="t" l="l"/>
            <a:pathLst>
              <a:path h="742708" w="1872584">
                <a:moveTo>
                  <a:pt x="0" y="0"/>
                </a:moveTo>
                <a:lnTo>
                  <a:pt x="1872584" y="0"/>
                </a:lnTo>
                <a:lnTo>
                  <a:pt x="1872584" y="742708"/>
                </a:lnTo>
                <a:lnTo>
                  <a:pt x="0" y="742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9985" r="0" b="-64094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B22A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980683" y="1110792"/>
            <a:ext cx="4340473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b="true" sz="4503">
                <a:solidFill>
                  <a:srgbClr val="1B22A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Roles y módulos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47817" y="2051856"/>
            <a:ext cx="8250336" cy="6328591"/>
            <a:chOff x="0" y="0"/>
            <a:chExt cx="11000448" cy="84381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00486" cy="8438134"/>
            </a:xfrm>
            <a:custGeom>
              <a:avLst/>
              <a:gdLst/>
              <a:ahLst/>
              <a:cxnLst/>
              <a:rect r="r" b="b" t="t" l="l"/>
              <a:pathLst>
                <a:path h="8438134" w="11000486">
                  <a:moveTo>
                    <a:pt x="0" y="1406398"/>
                  </a:moveTo>
                  <a:cubicBezTo>
                    <a:pt x="0" y="629666"/>
                    <a:pt x="629666" y="0"/>
                    <a:pt x="1406398" y="0"/>
                  </a:cubicBezTo>
                  <a:lnTo>
                    <a:pt x="9594088" y="0"/>
                  </a:lnTo>
                  <a:cubicBezTo>
                    <a:pt x="10370820" y="0"/>
                    <a:pt x="11000486" y="629666"/>
                    <a:pt x="11000486" y="1406398"/>
                  </a:cubicBezTo>
                  <a:lnTo>
                    <a:pt x="11000486" y="7031736"/>
                  </a:lnTo>
                  <a:cubicBezTo>
                    <a:pt x="11000486" y="7808468"/>
                    <a:pt x="10370820" y="8438134"/>
                    <a:pt x="9594088" y="8438134"/>
                  </a:cubicBezTo>
                  <a:lnTo>
                    <a:pt x="1406398" y="8438134"/>
                  </a:lnTo>
                  <a:cubicBezTo>
                    <a:pt x="629666" y="8438134"/>
                    <a:pt x="0" y="7808468"/>
                    <a:pt x="0" y="703173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EE4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4175852" y="3920012"/>
            <a:ext cx="77696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B6E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24165" y="4372394"/>
            <a:ext cx="408034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admin: gestiona empresa, tests y trabajadores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trabajador: rinde inducciones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Tenant = org Clerk → empresa.id_empresa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27023" y="2051856"/>
            <a:ext cx="8181699" cy="6328591"/>
            <a:chOff x="0" y="0"/>
            <a:chExt cx="10908932" cy="84381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08919" cy="8438134"/>
            </a:xfrm>
            <a:custGeom>
              <a:avLst/>
              <a:gdLst/>
              <a:ahLst/>
              <a:cxnLst/>
              <a:rect r="r" b="b" t="t" l="l"/>
              <a:pathLst>
                <a:path h="8438134" w="10908919">
                  <a:moveTo>
                    <a:pt x="0" y="1406398"/>
                  </a:moveTo>
                  <a:cubicBezTo>
                    <a:pt x="0" y="629666"/>
                    <a:pt x="629666" y="0"/>
                    <a:pt x="1406398" y="0"/>
                  </a:cubicBezTo>
                  <a:lnTo>
                    <a:pt x="9502521" y="0"/>
                  </a:lnTo>
                  <a:cubicBezTo>
                    <a:pt x="10279252" y="0"/>
                    <a:pt x="10908919" y="629666"/>
                    <a:pt x="10908919" y="1406398"/>
                  </a:cubicBezTo>
                  <a:lnTo>
                    <a:pt x="10908919" y="7031736"/>
                  </a:lnTo>
                  <a:cubicBezTo>
                    <a:pt x="10908919" y="7808468"/>
                    <a:pt x="10279252" y="8438134"/>
                    <a:pt x="9502521" y="8438134"/>
                  </a:cubicBezTo>
                  <a:lnTo>
                    <a:pt x="1406398" y="8438134"/>
                  </a:lnTo>
                  <a:cubicBezTo>
                    <a:pt x="629666" y="8438134"/>
                    <a:pt x="0" y="7808468"/>
                    <a:pt x="0" y="703173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EE4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890044" y="3920012"/>
            <a:ext cx="105565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A4F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Módulos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00235" y="4438650"/>
            <a:ext cx="3435274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Sitio público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Auth / post-login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Dashboard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Contratar / pagos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Tests + certificados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818766" y="9376648"/>
            <a:ext cx="1980185" cy="487311"/>
          </a:xfrm>
          <a:custGeom>
            <a:avLst/>
            <a:gdLst/>
            <a:ahLst/>
            <a:cxnLst/>
            <a:rect r="r" b="b" t="t" l="l"/>
            <a:pathLst>
              <a:path h="487311" w="1980185">
                <a:moveTo>
                  <a:pt x="0" y="0"/>
                </a:moveTo>
                <a:lnTo>
                  <a:pt x="1980185" y="0"/>
                </a:lnTo>
                <a:lnTo>
                  <a:pt x="1980185" y="487311"/>
                </a:lnTo>
                <a:lnTo>
                  <a:pt x="0" y="4873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926367" y="8633940"/>
            <a:ext cx="1872584" cy="742708"/>
          </a:xfrm>
          <a:custGeom>
            <a:avLst/>
            <a:gdLst/>
            <a:ahLst/>
            <a:cxnLst/>
            <a:rect r="r" b="b" t="t" l="l"/>
            <a:pathLst>
              <a:path h="742708" w="1872584">
                <a:moveTo>
                  <a:pt x="0" y="0"/>
                </a:moveTo>
                <a:lnTo>
                  <a:pt x="1872584" y="0"/>
                </a:lnTo>
                <a:lnTo>
                  <a:pt x="1872584" y="742708"/>
                </a:lnTo>
                <a:lnTo>
                  <a:pt x="0" y="742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9985" r="0" b="-64094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F6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B22A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327156" y="1229034"/>
            <a:ext cx="164752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b="true" sz="4503">
                <a:solidFill>
                  <a:srgbClr val="1B22A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Equipo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7817" y="2189131"/>
            <a:ext cx="8250336" cy="6054061"/>
            <a:chOff x="0" y="0"/>
            <a:chExt cx="11000448" cy="80720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00359" cy="8071993"/>
            </a:xfrm>
            <a:custGeom>
              <a:avLst/>
              <a:gdLst/>
              <a:ahLst/>
              <a:cxnLst/>
              <a:rect r="r" b="b" t="t" l="l"/>
              <a:pathLst>
                <a:path h="8071993" w="11000359">
                  <a:moveTo>
                    <a:pt x="0" y="1345311"/>
                  </a:moveTo>
                  <a:cubicBezTo>
                    <a:pt x="0" y="602361"/>
                    <a:pt x="602361" y="0"/>
                    <a:pt x="1345311" y="0"/>
                  </a:cubicBezTo>
                  <a:lnTo>
                    <a:pt x="9655048" y="0"/>
                  </a:lnTo>
                  <a:cubicBezTo>
                    <a:pt x="10398125" y="0"/>
                    <a:pt x="11000359" y="602361"/>
                    <a:pt x="11000359" y="1345311"/>
                  </a:cubicBezTo>
                  <a:lnTo>
                    <a:pt x="11000359" y="6726682"/>
                  </a:lnTo>
                  <a:cubicBezTo>
                    <a:pt x="11000359" y="7469759"/>
                    <a:pt x="10397998" y="8071993"/>
                    <a:pt x="9655048" y="8071993"/>
                  </a:cubicBezTo>
                  <a:lnTo>
                    <a:pt x="1345311" y="8071993"/>
                  </a:lnTo>
                  <a:cubicBezTo>
                    <a:pt x="602361" y="8072120"/>
                    <a:pt x="0" y="7469759"/>
                    <a:pt x="0" y="672668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EE4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4096019" y="4161210"/>
            <a:ext cx="175984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A4F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Hans Elfert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86101" y="4644661"/>
            <a:ext cx="2779679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Lead Backend &amp; Cloud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+ RLS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Clerk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Transbank / Edge Functions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27023" y="2189131"/>
            <a:ext cx="8181699" cy="6054061"/>
            <a:chOff x="0" y="0"/>
            <a:chExt cx="10908932" cy="80720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08792" cy="8071993"/>
            </a:xfrm>
            <a:custGeom>
              <a:avLst/>
              <a:gdLst/>
              <a:ahLst/>
              <a:cxnLst/>
              <a:rect r="r" b="b" t="t" l="l"/>
              <a:pathLst>
                <a:path h="8071993" w="10908792">
                  <a:moveTo>
                    <a:pt x="0" y="1345311"/>
                  </a:moveTo>
                  <a:cubicBezTo>
                    <a:pt x="0" y="602361"/>
                    <a:pt x="602361" y="0"/>
                    <a:pt x="1345311" y="0"/>
                  </a:cubicBezTo>
                  <a:lnTo>
                    <a:pt x="9563481" y="0"/>
                  </a:lnTo>
                  <a:cubicBezTo>
                    <a:pt x="10306558" y="0"/>
                    <a:pt x="10908792" y="602361"/>
                    <a:pt x="10908792" y="1345311"/>
                  </a:cubicBezTo>
                  <a:lnTo>
                    <a:pt x="10908792" y="6726682"/>
                  </a:lnTo>
                  <a:cubicBezTo>
                    <a:pt x="10908792" y="7469759"/>
                    <a:pt x="10306431" y="8071993"/>
                    <a:pt x="9563481" y="8071993"/>
                  </a:cubicBezTo>
                  <a:lnTo>
                    <a:pt x="1345311" y="8071993"/>
                  </a:lnTo>
                  <a:cubicBezTo>
                    <a:pt x="602361" y="8072120"/>
                    <a:pt x="0" y="7469759"/>
                    <a:pt x="0" y="672668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EE4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2387516" y="4161210"/>
            <a:ext cx="206071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B6E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Mateo Martínez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24934" y="4644661"/>
            <a:ext cx="2385877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Lead Frontend &amp; UI/UX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React / Vite / Chakra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Flujos de acceso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41C24"/>
                </a:solidFill>
                <a:latin typeface="Calibri (MS)"/>
                <a:ea typeface="Calibri (MS)"/>
                <a:cs typeface="Calibri (MS)"/>
                <a:sym typeface="Calibri (MS)"/>
              </a:rPr>
              <a:t>Tests y certificados PDF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818766" y="9376648"/>
            <a:ext cx="1980185" cy="487311"/>
          </a:xfrm>
          <a:custGeom>
            <a:avLst/>
            <a:gdLst/>
            <a:ahLst/>
            <a:cxnLst/>
            <a:rect r="r" b="b" t="t" l="l"/>
            <a:pathLst>
              <a:path h="487311" w="1980185">
                <a:moveTo>
                  <a:pt x="0" y="0"/>
                </a:moveTo>
                <a:lnTo>
                  <a:pt x="1980185" y="0"/>
                </a:lnTo>
                <a:lnTo>
                  <a:pt x="1980185" y="487311"/>
                </a:lnTo>
                <a:lnTo>
                  <a:pt x="0" y="4873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926367" y="8633940"/>
            <a:ext cx="1872584" cy="742708"/>
          </a:xfrm>
          <a:custGeom>
            <a:avLst/>
            <a:gdLst/>
            <a:ahLst/>
            <a:cxnLst/>
            <a:rect r="r" b="b" t="t" l="l"/>
            <a:pathLst>
              <a:path h="742708" w="1872584">
                <a:moveTo>
                  <a:pt x="0" y="0"/>
                </a:moveTo>
                <a:lnTo>
                  <a:pt x="1872584" y="0"/>
                </a:lnTo>
                <a:lnTo>
                  <a:pt x="1872584" y="742708"/>
                </a:lnTo>
                <a:lnTo>
                  <a:pt x="0" y="742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9985" r="0" b="-64094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DAHWPdhbBtw</dc:identifier>
  <dcterms:modified xsi:type="dcterms:W3CDTF">2011-08-01T06:04:30Z</dcterms:modified>
  <cp:revision>1</cp:revision>
  <dc:title>Presentacion_Idea_de_proyecto</dc:title>
</cp:coreProperties>
</file>